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209858b6127400a" /><Relationship Type="http://schemas.openxmlformats.org/officeDocument/2006/relationships/extended-properties" Target="/docProps/app.xml" Id="R674759a993684cf8" /><Relationship Type="http://schemas.openxmlformats.org/officeDocument/2006/relationships/officeDocument" Target="/ppt/presentation.xml" Id="R10ae621205dc4197" /></Relationships>
</file>

<file path=ppt/presentation.xml><?xml version="1.0" encoding="utf-8"?>
<p:presentation xmlns:p="http://schemas.openxmlformats.org/presentationml/2006/main">
  <p:sldMasterIdLst>
    <p:sldMasterId xmlns:r="http://schemas.openxmlformats.org/officeDocument/2006/relationships" id="2147483648" r:id="R5acb732513b84c00"/>
  </p:sldMasterIdLst>
  <p:notesMasterIdLst>
    <p:notesMasterId xmlns:r="http://schemas.openxmlformats.org/officeDocument/2006/relationships" r:id="R8f3e4302e3664403"/>
  </p:notesMasterIdLst>
  <p:sldIdLst>
    <p:sldId xmlns:r="http://schemas.openxmlformats.org/officeDocument/2006/relationships" id="256" r:id="Rf644cfd6adfe482a"/>
    <p:sldId xmlns:r="http://schemas.openxmlformats.org/officeDocument/2006/relationships" id="257" r:id="R8476f3c1b8b443e5"/>
    <p:sldId xmlns:r="http://schemas.openxmlformats.org/officeDocument/2006/relationships" id="258" r:id="R958d65e307af4977"/>
    <p:sldId xmlns:r="http://schemas.openxmlformats.org/officeDocument/2006/relationships" id="259" r:id="R1c28951ac0ad4d6a"/>
    <p:sldId xmlns:r="http://schemas.openxmlformats.org/officeDocument/2006/relationships" id="260" r:id="R5625619290124393"/>
    <p:sldId xmlns:r="http://schemas.openxmlformats.org/officeDocument/2006/relationships" id="261" r:id="R822fcef6ea384ef5"/>
    <p:sldId xmlns:r="http://schemas.openxmlformats.org/officeDocument/2006/relationships" id="262" r:id="R3a61f022c8714827"/>
    <p:sldId xmlns:r="http://schemas.openxmlformats.org/officeDocument/2006/relationships" id="263" r:id="R2cac949594e74cdb"/>
  </p:sldIdLst>
  <p:sldSz cx="9753600" cy="73152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98b5acdabd14262" /><Relationship Type="http://schemas.openxmlformats.org/officeDocument/2006/relationships/slideMaster" Target="/ppt/slideMasters/slideMaster1.xml" Id="R5acb732513b84c00" /><Relationship Type="http://schemas.openxmlformats.org/officeDocument/2006/relationships/notesMaster" Target="/ppt/notesMasters/notesMaster1.xml" Id="R8f3e4302e3664403" /><Relationship Type="http://schemas.openxmlformats.org/officeDocument/2006/relationships/presProps" Target="/ppt/presProps.xml" Id="Rf1d0be56d2d84111" /><Relationship Type="http://schemas.openxmlformats.org/officeDocument/2006/relationships/tableStyles" Target="/ppt/tableStyles.xml" Id="R9a215b54cb2841f6" /><Relationship Type="http://schemas.openxmlformats.org/officeDocument/2006/relationships/slide" Target="/ppt/slides/slide1.xml" Id="Rf644cfd6adfe482a" /><Relationship Type="http://schemas.openxmlformats.org/officeDocument/2006/relationships/slide" Target="/ppt/slides/slide2.xml" Id="R8476f3c1b8b443e5" /><Relationship Type="http://schemas.openxmlformats.org/officeDocument/2006/relationships/slide" Target="/ppt/slides/slide3.xml" Id="R958d65e307af4977" /><Relationship Type="http://schemas.openxmlformats.org/officeDocument/2006/relationships/slide" Target="/ppt/slides/slide4.xml" Id="R1c28951ac0ad4d6a" /><Relationship Type="http://schemas.openxmlformats.org/officeDocument/2006/relationships/slide" Target="/ppt/slides/slide5.xml" Id="R5625619290124393" /><Relationship Type="http://schemas.openxmlformats.org/officeDocument/2006/relationships/slide" Target="/ppt/slides/slide6.xml" Id="R822fcef6ea384ef5" /><Relationship Type="http://schemas.openxmlformats.org/officeDocument/2006/relationships/slide" Target="/ppt/slides/slide7.xml" Id="R3a61f022c8714827" /><Relationship Type="http://schemas.openxmlformats.org/officeDocument/2006/relationships/slide" Target="/ppt/slides/slide8.xml" Id="R2cac949594e74cd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b2cc0116884458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89413cdf4c74aff" /><Relationship Type="http://schemas.openxmlformats.org/officeDocument/2006/relationships/notesMaster" Target="/ppt/notesMasters/notesMaster1.xml" Id="R7a0f7f51d289467e" /></Relationships>
</file>

<file path=ppt/notesSlides/_rels/notesSlide2.xml.rels>&#65279;<?xml version="1.0" encoding="utf-8"?><Relationships xmlns="http://schemas.openxmlformats.org/package/2006/relationships"><Relationship Type="http://schemas.openxmlformats.org/officeDocument/2006/relationships/slide" Target="/ppt/slides/slide2.xml" Id="Re086e5bb0e604af9" /><Relationship Type="http://schemas.openxmlformats.org/officeDocument/2006/relationships/notesMaster" Target="/ppt/notesMasters/notesMaster1.xml" Id="R0945dfec6b73475b" /></Relationships>
</file>

<file path=ppt/notesSlides/_rels/notesSlide3.xml.rels>&#65279;<?xml version="1.0" encoding="utf-8"?><Relationships xmlns="http://schemas.openxmlformats.org/package/2006/relationships"><Relationship Type="http://schemas.openxmlformats.org/officeDocument/2006/relationships/slide" Target="/ppt/slides/slide3.xml" Id="R34d0980ddd4145e5" /><Relationship Type="http://schemas.openxmlformats.org/officeDocument/2006/relationships/notesMaster" Target="/ppt/notesMasters/notesMaster1.xml" Id="R04ebd7c68b0d41df" /></Relationships>
</file>

<file path=ppt/notesSlides/_rels/notesSlide4.xml.rels>&#65279;<?xml version="1.0" encoding="utf-8"?><Relationships xmlns="http://schemas.openxmlformats.org/package/2006/relationships"><Relationship Type="http://schemas.openxmlformats.org/officeDocument/2006/relationships/slide" Target="/ppt/slides/slide4.xml" Id="Rf8d460cc834940aa" /><Relationship Type="http://schemas.openxmlformats.org/officeDocument/2006/relationships/notesMaster" Target="/ppt/notesMasters/notesMaster1.xml" Id="Ra27f705491b84fb1" /></Relationships>
</file>

<file path=ppt/notesSlides/_rels/notesSlide5.xml.rels>&#65279;<?xml version="1.0" encoding="utf-8"?><Relationships xmlns="http://schemas.openxmlformats.org/package/2006/relationships"><Relationship Type="http://schemas.openxmlformats.org/officeDocument/2006/relationships/slide" Target="/ppt/slides/slide5.xml" Id="R295c2d1c913149b2" /><Relationship Type="http://schemas.openxmlformats.org/officeDocument/2006/relationships/notesMaster" Target="/ppt/notesMasters/notesMaster1.xml" Id="Rdf2e73e04bec443b" /></Relationships>
</file>

<file path=ppt/notesSlides/_rels/notesSlide6.xml.rels>&#65279;<?xml version="1.0" encoding="utf-8"?><Relationships xmlns="http://schemas.openxmlformats.org/package/2006/relationships"><Relationship Type="http://schemas.openxmlformats.org/officeDocument/2006/relationships/slide" Target="/ppt/slides/slide6.xml" Id="R4c703965ac1d4400" /><Relationship Type="http://schemas.openxmlformats.org/officeDocument/2006/relationships/notesMaster" Target="/ppt/notesMasters/notesMaster1.xml" Id="R6d3869e4075946ce" /></Relationships>
</file>

<file path=ppt/notesSlides/_rels/notesSlide7.xml.rels>&#65279;<?xml version="1.0" encoding="utf-8"?><Relationships xmlns="http://schemas.openxmlformats.org/package/2006/relationships"><Relationship Type="http://schemas.openxmlformats.org/officeDocument/2006/relationships/slide" Target="/ppt/slides/slide7.xml" Id="Re9b2fe9b744546a5" /><Relationship Type="http://schemas.openxmlformats.org/officeDocument/2006/relationships/notesMaster" Target="/ppt/notesMasters/notesMaster1.xml" Id="R1f3258a6ea34490a" /></Relationships>
</file>

<file path=ppt/notesSlides/_rels/notesSlide8.xml.rels>&#65279;<?xml version="1.0" encoding="utf-8"?><Relationships xmlns="http://schemas.openxmlformats.org/package/2006/relationships"><Relationship Type="http://schemas.openxmlformats.org/officeDocument/2006/relationships/slide" Target="/ppt/slides/slide8.xml" Id="Rb183803f1cae4b20" /><Relationship Type="http://schemas.openxmlformats.org/officeDocument/2006/relationships/notesMaster" Target="/ppt/notesMasters/notesMaster1.xml" Id="Ra75423c29ae548d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用户提供的 run.txt 研究内容</a:t>
            </a:r>
          </a:p>
          <a:p xmlns:a="http://schemas.openxmlformats.org/drawingml/2006/main">
            <a:r>
              <a:t>- 对应编号的本地 PDF/PPTX 仅作视觉模板参考</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用户提供的 run.txt 研究内容</a:t>
            </a:r>
          </a:p>
          <a:p xmlns:a="http://schemas.openxmlformats.org/drawingml/2006/main">
            <a:r>
              <a:t>- 对应编号的本地 PDF/PPTX 仅作视觉模板参考</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用户提供的 run.txt 研究内容</a:t>
            </a:r>
          </a:p>
          <a:p xmlns:a="http://schemas.openxmlformats.org/drawingml/2006/main">
            <a:r>
              <a:t>- 对应编号的本地 PDF/PPTX 仅作视觉模板参考</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用户提供的 run.txt 研究内容</a:t>
            </a:r>
          </a:p>
          <a:p xmlns:a="http://schemas.openxmlformats.org/drawingml/2006/main">
            <a:r>
              <a:t>- 对应编号的本地 PDF/PPTX 仅作视觉模板参考</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用户提供的 run.txt 研究内容</a:t>
            </a:r>
          </a:p>
          <a:p xmlns:a="http://schemas.openxmlformats.org/drawingml/2006/main">
            <a:r>
              <a:t>- 对应编号的本地 PDF/PPTX 仅作视觉模板参考</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用户提供的 run.txt 研究内容</a:t>
            </a:r>
          </a:p>
          <a:p xmlns:a="http://schemas.openxmlformats.org/drawingml/2006/main">
            <a:r>
              <a:t>- 对应编号的本地 PDF/PPTX 仅作视觉模板参考</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用户提供的 run.txt 研究内容</a:t>
            </a:r>
          </a:p>
          <a:p xmlns:a="http://schemas.openxmlformats.org/drawingml/2006/main">
            <a:r>
              <a:t>- 对应编号的本地 PDF/PPTX 仅作视觉模板参考</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用户提供的 run.txt 研究内容</a:t>
            </a:r>
          </a:p>
          <a:p xmlns:a="http://schemas.openxmlformats.org/drawingml/2006/main">
            <a:r>
              <a:t>- 对应编号的本地 PDF/PPTX 仅作视觉模板参考</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8326ea746be4bf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dd96569d3464a6b" /><Relationship Type="http://schemas.openxmlformats.org/officeDocument/2006/relationships/slideLayout" Target="/ppt/slideLayouts/slideLayout1.xml" Id="Recc3cabe7f9b4e4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cc3cabe7f9b4e4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69c4effb16343c5" /><Relationship Type="http://schemas.openxmlformats.org/officeDocument/2006/relationships/notesSlide" Target="/ppt/notesSlides/notesSlide1.xml" Id="R351c32e619bd494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3d5b58397f44458" /><Relationship Type="http://schemas.openxmlformats.org/officeDocument/2006/relationships/notesSlide" Target="/ppt/notesSlides/notesSlide2.xml" Id="R94e1efa22c9140e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8e645dc3a6648fd" /><Relationship Type="http://schemas.openxmlformats.org/officeDocument/2006/relationships/notesSlide" Target="/ppt/notesSlides/notesSlide3.xml" Id="Rd853bb433fb8438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0f51bba2d0d4d1c" /><Relationship Type="http://schemas.openxmlformats.org/officeDocument/2006/relationships/notesSlide" Target="/ppt/notesSlides/notesSlide4.xml" Id="R6932878611e2401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c0d017f87404300" /><Relationship Type="http://schemas.openxmlformats.org/officeDocument/2006/relationships/notesSlide" Target="/ppt/notesSlides/notesSlide5.xml" Id="R1f4831bb70b64bf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2f23596ff4d4a98" /><Relationship Type="http://schemas.openxmlformats.org/officeDocument/2006/relationships/notesSlide" Target="/ppt/notesSlides/notesSlide6.xml" Id="R648a204ff1f2465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c7f2d7f62cb54a33" /><Relationship Type="http://schemas.openxmlformats.org/officeDocument/2006/relationships/notesSlide" Target="/ppt/notesSlides/notesSlide7.xml" Id="Rb08be768088b4f2d"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968a591030ff4801" /><Relationship Type="http://schemas.openxmlformats.org/officeDocument/2006/relationships/notesSlide" Target="/ppt/notesSlides/notesSlide8.xml" Id="Rc69f6170c9d24b58" /></Relationships>
</file>

<file path=ppt/slides/slide1.xml><?xml version="1.0" encoding="utf-8"?>
<p:sld xmlns:p="http://schemas.openxmlformats.org/presentationml/2006/main">
  <p:cSld>
    <p:bg>
      <p:bgPr>
        <a:solidFill xmlns:a="http://schemas.openxmlformats.org/drawingml/2006/main">
          <a:srgbClr val="E7E7E7"/>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DAE34E1-0A9A-4F1C-B192-AE5D9B13DFC8}"/>
              </a:ext>
            </a:extLst>
          </p:cNvPr>
          <p:cNvSpPr>
            <a:spLocks xmlns:a="http://schemas.openxmlformats.org/drawingml/2006/main" noGrp="1"/>
          </p:cNvSpPr>
          <p:nvPr/>
        </p:nvSpPr>
        <p:spPr>
          <a:xfrm xmlns:a="http://schemas.openxmlformats.org/drawingml/2006/main">
            <a:off x="0" y="1047750"/>
            <a:ext cx="9753600" cy="2857500"/>
          </a:xfrm>
          <a:prstGeom xmlns:a="http://schemas.openxmlformats.org/drawingml/2006/main" prst="rect">
            <a:avLst/>
          </a:prstGeom>
          <a:solidFill xmlns:a="http://schemas.openxmlformats.org/drawingml/2006/main">
            <a:srgbClr val="4C8FB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B7A0B4A-6A33-4FCF-9F08-AA78305D48E9}"/>
              </a:ext>
            </a:extLst>
          </p:cNvPr>
          <p:cNvSpPr>
            <a:spLocks xmlns:a="http://schemas.openxmlformats.org/drawingml/2006/main" noGrp="1"/>
          </p:cNvSpPr>
          <p:nvPr/>
        </p:nvSpPr>
        <p:spPr>
          <a:xfrm xmlns:a="http://schemas.openxmlformats.org/drawingml/2006/main">
            <a:off x="0" y="3905250"/>
            <a:ext cx="9753600" cy="114300"/>
          </a:xfrm>
          <a:prstGeom xmlns:a="http://schemas.openxmlformats.org/drawingml/2006/main" prst="rect">
            <a:avLst/>
          </a:prstGeom>
          <a:solidFill xmlns:a="http://schemas.openxmlformats.org/drawingml/2006/main">
            <a:srgbClr val="2F8F2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62D7B519-0D68-45C8-B362-F15E4CEC9F12}"/>
              </a:ext>
            </a:extLst>
          </p:cNvPr>
          <p:cNvSpPr>
            <a:spLocks xmlns:a="http://schemas.openxmlformats.org/drawingml/2006/main" noGrp="1"/>
          </p:cNvSpPr>
          <p:nvPr/>
        </p:nvSpPr>
        <p:spPr>
          <a:xfrm xmlns:a="http://schemas.openxmlformats.org/drawingml/2006/main">
            <a:off x="666750" y="1428750"/>
            <a:ext cx="7022592"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2250" b="1">
                <a:solidFill>
                  <a:srgbClr val="FFFFFF"/>
                </a:solidFill>
              </a:defRPr>
            </a:pPr>
            <a:r>
              <a:rPr sz="2250" b="1">
                <a:solidFill>
                  <a:srgbClr val="FFFFFF"/>
                </a:solidFill>
              </a:rPr>
              <a:t>请帮我出一份中国铜业的研究报告，我要知道这个公司的基本情况、核心竞争力、资本运作情况、核心资产情况、技术情…</a:t>
            </a:r>
          </a:p>
        </p:txBody>
      </p:sp>
      <p:sp>
        <p:nvSpPr>
          <p:cNvPr id="4" name="">
            <a:extLst xmlns:a="http://schemas.openxmlformats.org/drawingml/2006/main">
              <a:ext uri="{FF2B5EF4-FFF2-40B4-BE49-F238E27FC236}">
                <a16:creationId xmlns:a16="http://schemas.microsoft.com/office/drawing/2014/main" id="{3A1620CF-AF01-4027-9A7C-5D1B3038B320}"/>
              </a:ext>
            </a:extLst>
          </p:cNvPr>
          <p:cNvSpPr>
            <a:spLocks xmlns:a="http://schemas.openxmlformats.org/drawingml/2006/main" noGrp="1"/>
          </p:cNvSpPr>
          <p:nvPr/>
        </p:nvSpPr>
        <p:spPr>
          <a:xfrm xmlns:a="http://schemas.openxmlformats.org/drawingml/2006/main">
            <a:off x="685800" y="6410325"/>
            <a:ext cx="571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200" b="0">
                <a:solidFill>
                  <a:srgbClr val="FFFFFF"/>
                </a:solidFill>
              </a:defRPr>
            </a:pPr>
            <a:r>
              <a:rPr sz="1200" b="0">
                <a:solidFill>
                  <a:srgbClr val="FFFFFF"/>
                </a:solidFill>
              </a:rPr>
              <a:t>研究报告 · 模板 BMW Engineering</a:t>
            </a:r>
          </a:p>
        </p:txBody>
      </p:sp>
    </p:spTree>
    <p:extLst>
      <p:ext uri="{BB962C8B-B14F-4D97-AF65-F5344CB8AC3E}">
        <p14:creationId xmlns:p14="http://schemas.microsoft.com/office/powerpoint/2010/main" val="232105724"/>
      </p:ext>
    </p:extLst>
  </p:cSld>
</p:sld>
</file>

<file path=ppt/slides/slide2.xml><?xml version="1.0" encoding="utf-8"?>
<p:sld xmlns:p="http://schemas.openxmlformats.org/presentationml/2006/main">
  <p:cSld>
    <p:bg>
      <p:bgPr>
        <a:solidFill xmlns:a="http://schemas.openxmlformats.org/drawingml/2006/main">
          <a:srgbClr val="D8D8D8"/>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DC10C2D5-7E2B-4FD6-A090-5DEC285F5680}"/>
              </a:ext>
            </a:extLst>
          </p:cNvPr>
          <p:cNvSpPr>
            <a:spLocks xmlns:a="http://schemas.openxmlformats.org/drawingml/2006/main" noGrp="1"/>
          </p:cNvSpPr>
          <p:nvPr/>
        </p:nvSpPr>
        <p:spPr>
          <a:xfrm xmlns:a="http://schemas.openxmlformats.org/drawingml/2006/main">
            <a:off x="666750" y="400050"/>
            <a:ext cx="10382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2400" b="1">
                <a:solidFill>
                  <a:srgbClr val="111111"/>
                </a:solidFill>
              </a:defRPr>
            </a:pPr>
            <a:r>
              <a:rPr sz="2400" b="1">
                <a:solidFill>
                  <a:srgbClr val="111111"/>
                </a:solidFill>
              </a:rPr>
              <a:t>核心观点</a:t>
            </a:r>
          </a:p>
        </p:txBody>
      </p:sp>
      <p:sp>
        <p:nvSpPr>
          <p:cNvPr id="2" name="">
            <a:extLst xmlns:a="http://schemas.openxmlformats.org/drawingml/2006/main">
              <a:ext uri="{FF2B5EF4-FFF2-40B4-BE49-F238E27FC236}">
                <a16:creationId xmlns:a16="http://schemas.microsoft.com/office/drawing/2014/main" id="{6A78C672-4579-4CE0-82E1-80C2450F4444}"/>
              </a:ext>
            </a:extLst>
          </p:cNvPr>
          <p:cNvSpPr>
            <a:spLocks xmlns:a="http://schemas.openxmlformats.org/drawingml/2006/main" noGrp="1"/>
          </p:cNvSpPr>
          <p:nvPr/>
        </p:nvSpPr>
        <p:spPr>
          <a:xfrm xmlns:a="http://schemas.openxmlformats.org/drawingml/2006/main">
            <a:off x="666750" y="1381125"/>
            <a:ext cx="3706368" cy="3905250"/>
          </a:xfrm>
          <a:prstGeom xmlns:a="http://schemas.openxmlformats.org/drawingml/2006/main" prst="roundRect">
            <a:avLst>
              <a:gd name="adj" fmla="val 2056"/>
            </a:avLst>
          </a:prstGeom>
          <a:solidFill xmlns:a="http://schemas.openxmlformats.org/drawingml/2006/main">
            <a:srgbClr val="6D6D6D"/>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E96C586-9C4A-452C-B0A7-500E04DE7897}"/>
              </a:ext>
            </a:extLst>
          </p:cNvPr>
          <p:cNvSpPr>
            <a:spLocks xmlns:a="http://schemas.openxmlformats.org/drawingml/2006/main" noGrp="1"/>
          </p:cNvSpPr>
          <p:nvPr/>
        </p:nvSpPr>
        <p:spPr>
          <a:xfrm xmlns:a="http://schemas.openxmlformats.org/drawingml/2006/main">
            <a:off x="952500" y="1666875"/>
            <a:ext cx="3121152"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725" b="1">
                <a:solidFill>
                  <a:srgbClr val="FFFFFF"/>
                </a:solidFill>
              </a:defRPr>
            </a:pPr>
            <a:r>
              <a:rPr sz="1725" b="1">
                <a:solidFill>
                  <a:srgbClr val="FFFFFF"/>
                </a:solidFill>
              </a:rPr>
              <a:t>中国铜业跨越发展的核心路径是"央地资产整合 + 多金属协同 + 降杠杆优先"的复合范式，区别于紫金矿业的激进全球并购和江西铜业的规模驱动。 从 2008 年成立时不足 …</a:t>
            </a:r>
          </a:p>
        </p:txBody>
      </p:sp>
      <p:sp>
        <p:nvSpPr>
          <p:cNvPr id="4" name="">
            <a:extLst xmlns:a="http://schemas.openxmlformats.org/drawingml/2006/main">
              <a:ext uri="{FF2B5EF4-FFF2-40B4-BE49-F238E27FC236}">
                <a16:creationId xmlns:a16="http://schemas.microsoft.com/office/drawing/2014/main" id="{4694E6F8-1631-4E0B-872F-411A3273AD47}"/>
              </a:ext>
            </a:extLst>
          </p:cNvPr>
          <p:cNvSpPr>
            <a:spLocks xmlns:a="http://schemas.openxmlformats.org/drawingml/2006/main" noGrp="1"/>
          </p:cNvSpPr>
          <p:nvPr/>
        </p:nvSpPr>
        <p:spPr>
          <a:xfrm xmlns:a="http://schemas.openxmlformats.org/drawingml/2006/main">
            <a:off x="5071872" y="1647825"/>
            <a:ext cx="85725" cy="85725"/>
          </a:xfrm>
          <a:prstGeom xmlns:a="http://schemas.openxmlformats.org/drawingml/2006/main" prst="rect">
            <a:avLst/>
          </a:prstGeom>
          <a:solidFill xmlns:a="http://schemas.openxmlformats.org/drawingml/2006/main">
            <a:srgbClr val="0066B1"/>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A98C12A-7E52-44A1-804A-400543037217}"/>
              </a:ext>
            </a:extLst>
          </p:cNvPr>
          <p:cNvSpPr>
            <a:spLocks xmlns:a="http://schemas.openxmlformats.org/drawingml/2006/main" noGrp="1"/>
          </p:cNvSpPr>
          <p:nvPr/>
        </p:nvSpPr>
        <p:spPr>
          <a:xfrm xmlns:a="http://schemas.openxmlformats.org/drawingml/2006/main">
            <a:off x="5319522" y="1571625"/>
            <a:ext cx="3556254"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425" b="1">
                <a:solidFill>
                  <a:srgbClr val="111111"/>
                </a:solidFill>
              </a:defRPr>
            </a:pPr>
            <a:r>
              <a:rPr sz="1425" b="1">
                <a:solidFill>
                  <a:srgbClr val="111111"/>
                </a:solidFill>
              </a:rPr>
              <a:t>中国铜业是国内唯一同时拥有铜冶炼国内第三和铅锌锗国内第一双料地位的企业，在铜价下行周期拥有天然对冲能力。 公司电解铜产能 135 万吨/年（国内第三）…</a:t>
            </a:r>
          </a:p>
        </p:txBody>
      </p:sp>
      <p:sp>
        <p:nvSpPr>
          <p:cNvPr id="6" name="">
            <a:extLst xmlns:a="http://schemas.openxmlformats.org/drawingml/2006/main">
              <a:ext uri="{FF2B5EF4-FFF2-40B4-BE49-F238E27FC236}">
                <a16:creationId xmlns:a16="http://schemas.microsoft.com/office/drawing/2014/main" id="{C2095712-30EA-46D0-A8BD-3F16DFEEE468}"/>
              </a:ext>
            </a:extLst>
          </p:cNvPr>
          <p:cNvSpPr>
            <a:spLocks xmlns:a="http://schemas.openxmlformats.org/drawingml/2006/main" noGrp="1"/>
          </p:cNvSpPr>
          <p:nvPr/>
        </p:nvSpPr>
        <p:spPr>
          <a:xfrm xmlns:a="http://schemas.openxmlformats.org/drawingml/2006/main">
            <a:off x="5071872" y="2505075"/>
            <a:ext cx="85725" cy="85725"/>
          </a:xfrm>
          <a:prstGeom xmlns:a="http://schemas.openxmlformats.org/drawingml/2006/main" prst="rect">
            <a:avLst/>
          </a:prstGeom>
          <a:solidFill xmlns:a="http://schemas.openxmlformats.org/drawingml/2006/main">
            <a:srgbClr val="0066B1"/>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E79E42EB-22A6-409A-92CC-794385BBCF1C}"/>
              </a:ext>
            </a:extLst>
          </p:cNvPr>
          <p:cNvSpPr>
            <a:spLocks xmlns:a="http://schemas.openxmlformats.org/drawingml/2006/main" noGrp="1"/>
          </p:cNvSpPr>
          <p:nvPr/>
        </p:nvSpPr>
        <p:spPr>
          <a:xfrm xmlns:a="http://schemas.openxmlformats.org/drawingml/2006/main">
            <a:off x="5319522" y="2428875"/>
            <a:ext cx="3556254"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425" b="0">
                <a:solidFill>
                  <a:srgbClr val="111111"/>
                </a:solidFill>
              </a:defRPr>
            </a:pPr>
            <a:r>
              <a:rPr sz="1425" b="0">
                <a:solidFill>
                  <a:srgbClr val="111111"/>
                </a:solidFill>
              </a:rPr>
              <a:t>资产负债率从 2021 年 66.18% 持续降至 2025 年 9 月末 56.69%，AAA 评级带来 1.94%-2.00% 的超低债券融资利率…</a:t>
            </a:r>
          </a:p>
        </p:txBody>
      </p:sp>
      <p:sp>
        <p:nvSpPr>
          <p:cNvPr id="8" name="">
            <a:extLst xmlns:a="http://schemas.openxmlformats.org/drawingml/2006/main">
              <a:ext uri="{FF2B5EF4-FFF2-40B4-BE49-F238E27FC236}">
                <a16:creationId xmlns:a16="http://schemas.microsoft.com/office/drawing/2014/main" id="{6446ACDA-28F7-43F9-B733-EDF3DC9A3E97}"/>
              </a:ext>
            </a:extLst>
          </p:cNvPr>
          <p:cNvSpPr>
            <a:spLocks xmlns:a="http://schemas.openxmlformats.org/drawingml/2006/main" noGrp="1"/>
          </p:cNvSpPr>
          <p:nvPr/>
        </p:nvSpPr>
        <p:spPr>
          <a:xfrm xmlns:a="http://schemas.openxmlformats.org/drawingml/2006/main">
            <a:off x="5071872" y="3362325"/>
            <a:ext cx="85725" cy="85725"/>
          </a:xfrm>
          <a:prstGeom xmlns:a="http://schemas.openxmlformats.org/drawingml/2006/main" prst="rect">
            <a:avLst/>
          </a:prstGeom>
          <a:solidFill xmlns:a="http://schemas.openxmlformats.org/drawingml/2006/main">
            <a:srgbClr val="0066B1"/>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B16DBB73-E756-4D3F-9F3E-FEFAC648F1A1}"/>
              </a:ext>
            </a:extLst>
          </p:cNvPr>
          <p:cNvSpPr>
            <a:spLocks xmlns:a="http://schemas.openxmlformats.org/drawingml/2006/main" noGrp="1"/>
          </p:cNvSpPr>
          <p:nvPr/>
        </p:nvSpPr>
        <p:spPr>
          <a:xfrm xmlns:a="http://schemas.openxmlformats.org/drawingml/2006/main">
            <a:off x="5319522" y="3286125"/>
            <a:ext cx="3556254"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425" b="0">
                <a:solidFill>
                  <a:srgbClr val="111111"/>
                </a:solidFill>
              </a:defRPr>
            </a:pPr>
            <a:r>
              <a:rPr sz="1425" b="0">
                <a:solidFill>
                  <a:srgbClr val="111111"/>
                </a:solidFill>
              </a:rPr>
              <a:t>在资源储量与冶炼规模的横向对比中，中国铜业呈现"资源端不占优、多金属和财务稳健性独特"的竞争格局。 紫金矿业以 7,372 万吨权益铜资源量遥遥领先，…</a:t>
            </a:r>
          </a:p>
        </p:txBody>
      </p:sp>
      <p:sp>
        <p:nvSpPr>
          <p:cNvPr id="10" name="">
            <a:extLst xmlns:a="http://schemas.openxmlformats.org/drawingml/2006/main">
              <a:ext uri="{FF2B5EF4-FFF2-40B4-BE49-F238E27FC236}">
                <a16:creationId xmlns:a16="http://schemas.microsoft.com/office/drawing/2014/main" id="{122B4698-EAA5-404E-9A9E-0DB2904716D0}"/>
              </a:ext>
            </a:extLst>
          </p:cNvPr>
          <p:cNvSpPr>
            <a:spLocks xmlns:a="http://schemas.openxmlformats.org/drawingml/2006/main" noGrp="1"/>
          </p:cNvSpPr>
          <p:nvPr/>
        </p:nvSpPr>
        <p:spPr>
          <a:xfrm xmlns:a="http://schemas.openxmlformats.org/drawingml/2006/main">
            <a:off x="5071872" y="4219575"/>
            <a:ext cx="85725" cy="85725"/>
          </a:xfrm>
          <a:prstGeom xmlns:a="http://schemas.openxmlformats.org/drawingml/2006/main" prst="rect">
            <a:avLst/>
          </a:prstGeom>
          <a:solidFill xmlns:a="http://schemas.openxmlformats.org/drawingml/2006/main">
            <a:srgbClr val="0066B1"/>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D3BB93EE-AB6A-4566-AF39-2471DD1C62D9}"/>
              </a:ext>
            </a:extLst>
          </p:cNvPr>
          <p:cNvSpPr>
            <a:spLocks xmlns:a="http://schemas.openxmlformats.org/drawingml/2006/main" noGrp="1"/>
          </p:cNvSpPr>
          <p:nvPr/>
        </p:nvSpPr>
        <p:spPr>
          <a:xfrm xmlns:a="http://schemas.openxmlformats.org/drawingml/2006/main">
            <a:off x="5319522" y="4143375"/>
            <a:ext cx="3556254"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425" b="0">
                <a:solidFill>
                  <a:srgbClr val="111111"/>
                </a:solidFill>
              </a:defRPr>
            </a:pPr>
            <a:r>
              <a:rPr sz="1425" b="0">
                <a:solidFill>
                  <a:srgbClr val="111111"/>
                </a:solidFill>
              </a:rPr>
              <a:t>中国铜业的"央企整合 + 多金属协同"范式与紫金矿业"资源为王 + 激进并购"、江西铜业"冶炼规模 + 全产业链"、洛阳钼业"刚果金资源 + 多元金属…</a:t>
            </a:r>
          </a:p>
        </p:txBody>
      </p:sp>
    </p:spTree>
    <p:extLst>
      <p:ext uri="{BB962C8B-B14F-4D97-AF65-F5344CB8AC3E}">
        <p14:creationId xmlns:p14="http://schemas.microsoft.com/office/powerpoint/2010/main" val="1399949728"/>
      </p:ext>
    </p:extLst>
  </p:cSld>
</p:sld>
</file>

<file path=ppt/slides/slide3.xml><?xml version="1.0" encoding="utf-8"?>
<p:sld xmlns:p="http://schemas.openxmlformats.org/presentationml/2006/main">
  <p:cSld>
    <p:bg>
      <p:bgPr>
        <a:solidFill xmlns:a="http://schemas.openxmlformats.org/drawingml/2006/main">
          <a:srgbClr val="D8D8D8"/>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6979E5B4-F0C8-4CEF-9C35-1197EC6E6577}"/>
              </a:ext>
            </a:extLst>
          </p:cNvPr>
          <p:cNvSpPr>
            <a:spLocks xmlns:a="http://schemas.openxmlformats.org/drawingml/2006/main" noGrp="1"/>
          </p:cNvSpPr>
          <p:nvPr/>
        </p:nvSpPr>
        <p:spPr>
          <a:xfrm xmlns:a="http://schemas.openxmlformats.org/drawingml/2006/main">
            <a:off x="666750" y="400050"/>
            <a:ext cx="10382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2400" b="1">
                <a:solidFill>
                  <a:srgbClr val="111111"/>
                </a:solidFill>
              </a:defRPr>
            </a:pPr>
            <a:r>
              <a:rPr sz="2400" b="1">
                <a:solidFill>
                  <a:srgbClr val="111111"/>
                </a:solidFill>
              </a:rPr>
              <a:t>从北京起步到央企入滇：中国铜业15年发展脉络</a:t>
            </a:r>
          </a:p>
        </p:txBody>
      </p:sp>
      <p:sp>
        <p:nvSpPr>
          <p:cNvPr id="2" name="">
            <a:extLst xmlns:a="http://schemas.openxmlformats.org/drawingml/2006/main">
              <a:ext uri="{FF2B5EF4-FFF2-40B4-BE49-F238E27FC236}">
                <a16:creationId xmlns:a16="http://schemas.microsoft.com/office/drawing/2014/main" id="{D6DC2211-3B16-4725-A75E-4E8F4AAD73F8}"/>
              </a:ext>
            </a:extLst>
          </p:cNvPr>
          <p:cNvSpPr>
            <a:spLocks xmlns:a="http://schemas.openxmlformats.org/drawingml/2006/main" noGrp="1"/>
          </p:cNvSpPr>
          <p:nvPr/>
        </p:nvSpPr>
        <p:spPr>
          <a:xfrm xmlns:a="http://schemas.openxmlformats.org/drawingml/2006/main">
            <a:off x="3316224" y="1571625"/>
            <a:ext cx="3121152" cy="2857500"/>
          </a:xfrm>
          <a:prstGeom xmlns:a="http://schemas.openxmlformats.org/drawingml/2006/main" prst="roundRect">
            <a:avLst>
              <a:gd name="adj" fmla="val 2667"/>
            </a:avLst>
          </a:prstGeom>
          <a:solidFill xmlns:a="http://schemas.openxmlformats.org/drawingml/2006/main">
            <a:srgbClr val="EEEEEE"/>
          </a:solidFill>
          <a:ln xmlns:a="http://schemas.openxmlformats.org/drawingml/2006/main" w="9525">
            <a:solidFill>
              <a:srgbClr val="0066B1"/>
            </a:solidFill>
          </a:ln>
        </p:spPr>
      </p:sp>
      <p:sp>
        <p:nvSpPr>
          <p:cNvPr id="3" name="">
            <a:extLst xmlns:a="http://schemas.openxmlformats.org/drawingml/2006/main">
              <a:ext uri="{FF2B5EF4-FFF2-40B4-BE49-F238E27FC236}">
                <a16:creationId xmlns:a16="http://schemas.microsoft.com/office/drawing/2014/main" id="{0AAFF5C3-59E6-48BE-9BBB-CD6B396F2C19}"/>
              </a:ext>
            </a:extLst>
          </p:cNvPr>
          <p:cNvSpPr>
            <a:spLocks xmlns:a="http://schemas.openxmlformats.org/drawingml/2006/main" noGrp="1"/>
          </p:cNvSpPr>
          <p:nvPr/>
        </p:nvSpPr>
        <p:spPr>
          <a:xfrm xmlns:a="http://schemas.openxmlformats.org/drawingml/2006/main">
            <a:off x="3706368" y="2143125"/>
            <a:ext cx="2340864"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650" b="1">
                <a:solidFill>
                  <a:srgbClr val="111111"/>
                </a:solidFill>
              </a:defRPr>
            </a:pPr>
            <a:r>
              <a:rPr sz="1650" b="1">
                <a:solidFill>
                  <a:srgbClr val="111111"/>
                </a:solidFill>
              </a:rPr>
              <a:t>中国铜业的发展轨迹可划分为三个战略阶段，每一次跃迁都重塑了企业的规模与定位。</a:t>
            </a:r>
          </a:p>
        </p:txBody>
      </p:sp>
      <p:sp>
        <p:nvSpPr>
          <p:cNvPr id="4" name="">
            <a:extLst xmlns:a="http://schemas.openxmlformats.org/drawingml/2006/main">
              <a:ext uri="{FF2B5EF4-FFF2-40B4-BE49-F238E27FC236}">
                <a16:creationId xmlns:a16="http://schemas.microsoft.com/office/drawing/2014/main" id="{68B01E15-F181-4B49-90A9-572C7C295AC7}"/>
              </a:ext>
            </a:extLst>
          </p:cNvPr>
          <p:cNvSpPr>
            <a:spLocks xmlns:a="http://schemas.openxmlformats.org/drawingml/2006/main" noGrp="1"/>
          </p:cNvSpPr>
          <p:nvPr/>
        </p:nvSpPr>
        <p:spPr>
          <a:xfrm xmlns:a="http://schemas.openxmlformats.org/drawingml/2006/main">
            <a:off x="619125" y="1476375"/>
            <a:ext cx="24384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275" b="1">
                <a:solidFill>
                  <a:srgbClr val="111111"/>
                </a:solidFill>
              </a:defRPr>
            </a:pPr>
            <a:r>
              <a:rPr sz="1275" b="1">
                <a:solidFill>
                  <a:srgbClr val="111111"/>
                </a:solidFill>
              </a:rPr>
              <a:t>第一阶段（1985-2007年）：前身与划转。公司前身为中国有色新金属有限公司，1985年5月在北京成…</a:t>
            </a:r>
          </a:p>
        </p:txBody>
      </p:sp>
      <p:sp>
        <p:nvSpPr>
          <p:cNvPr id="5" name="">
            <a:extLst xmlns:a="http://schemas.openxmlformats.org/drawingml/2006/main">
              <a:ext uri="{FF2B5EF4-FFF2-40B4-BE49-F238E27FC236}">
                <a16:creationId xmlns:a16="http://schemas.microsoft.com/office/drawing/2014/main" id="{14C76C6D-55D3-4B47-BEC3-EB68FC16E739}"/>
              </a:ext>
            </a:extLst>
          </p:cNvPr>
          <p:cNvSpPr>
            <a:spLocks xmlns:a="http://schemas.openxmlformats.org/drawingml/2006/main" noGrp="1"/>
          </p:cNvSpPr>
          <p:nvPr/>
        </p:nvSpPr>
        <p:spPr>
          <a:xfrm xmlns:a="http://schemas.openxmlformats.org/drawingml/2006/main">
            <a:off x="2828544" y="2162175"/>
            <a:ext cx="487680" cy="28575"/>
          </a:xfrm>
          <a:prstGeom xmlns:a="http://schemas.openxmlformats.org/drawingml/2006/main" prst="rect">
            <a:avLst/>
          </a:prstGeom>
          <a:solidFill xmlns:a="http://schemas.openxmlformats.org/drawingml/2006/main">
            <a:srgbClr val="0066B1"/>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63D020F8-AF97-42E9-BED7-BB01CF351D82}"/>
              </a:ext>
            </a:extLst>
          </p:cNvPr>
          <p:cNvSpPr>
            <a:spLocks xmlns:a="http://schemas.openxmlformats.org/drawingml/2006/main" noGrp="1"/>
          </p:cNvSpPr>
          <p:nvPr/>
        </p:nvSpPr>
        <p:spPr>
          <a:xfrm xmlns:a="http://schemas.openxmlformats.org/drawingml/2006/main">
            <a:off x="6827520" y="1476375"/>
            <a:ext cx="24384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275" b="0">
                <a:solidFill>
                  <a:srgbClr val="111111"/>
                </a:solidFill>
              </a:defRPr>
            </a:pPr>
            <a:r>
              <a:rPr sz="1275" b="0">
                <a:solidFill>
                  <a:srgbClr val="111111"/>
                </a:solidFill>
              </a:rPr>
              <a:t>第二阶段（2008-2016年）：成立与央企入滇。2008年8月，公司正式更名为中国铜业有限公司，经营…</a:t>
            </a:r>
          </a:p>
        </p:txBody>
      </p:sp>
      <p:sp>
        <p:nvSpPr>
          <p:cNvPr id="7" name="">
            <a:extLst xmlns:a="http://schemas.openxmlformats.org/drawingml/2006/main">
              <a:ext uri="{FF2B5EF4-FFF2-40B4-BE49-F238E27FC236}">
                <a16:creationId xmlns:a16="http://schemas.microsoft.com/office/drawing/2014/main" id="{022A9106-9CAB-47FE-9F45-F2E9656A5EA1}"/>
              </a:ext>
            </a:extLst>
          </p:cNvPr>
          <p:cNvSpPr>
            <a:spLocks xmlns:a="http://schemas.openxmlformats.org/drawingml/2006/main" noGrp="1"/>
          </p:cNvSpPr>
          <p:nvPr/>
        </p:nvSpPr>
        <p:spPr>
          <a:xfrm xmlns:a="http://schemas.openxmlformats.org/drawingml/2006/main">
            <a:off x="6437376" y="2162175"/>
            <a:ext cx="487680" cy="28575"/>
          </a:xfrm>
          <a:prstGeom xmlns:a="http://schemas.openxmlformats.org/drawingml/2006/main" prst="rect">
            <a:avLst/>
          </a:prstGeom>
          <a:solidFill xmlns:a="http://schemas.openxmlformats.org/drawingml/2006/main">
            <a:srgbClr val="0066B1"/>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F467D99-8506-4578-9CA6-04B6B671B5F6}"/>
              </a:ext>
            </a:extLst>
          </p:cNvPr>
          <p:cNvSpPr>
            <a:spLocks xmlns:a="http://schemas.openxmlformats.org/drawingml/2006/main" noGrp="1"/>
          </p:cNvSpPr>
          <p:nvPr/>
        </p:nvSpPr>
        <p:spPr>
          <a:xfrm xmlns:a="http://schemas.openxmlformats.org/drawingml/2006/main">
            <a:off x="619125" y="3429000"/>
            <a:ext cx="24384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275" b="0">
                <a:solidFill>
                  <a:srgbClr val="111111"/>
                </a:solidFill>
              </a:defRPr>
            </a:pPr>
            <a:r>
              <a:rPr sz="1275" b="0">
                <a:solidFill>
                  <a:srgbClr val="111111"/>
                </a:solidFill>
              </a:rPr>
              <a:t>第三阶段（2018年至今）：战略重组与跨越发展。2018年12月是决定性节点——云南冶金集团及中铝集团…</a:t>
            </a:r>
          </a:p>
        </p:txBody>
      </p:sp>
      <p:sp>
        <p:nvSpPr>
          <p:cNvPr id="9" name="">
            <a:extLst xmlns:a="http://schemas.openxmlformats.org/drawingml/2006/main">
              <a:ext uri="{FF2B5EF4-FFF2-40B4-BE49-F238E27FC236}">
                <a16:creationId xmlns:a16="http://schemas.microsoft.com/office/drawing/2014/main" id="{06CFC9D5-BB00-470D-91C4-CD27BC63D4FD}"/>
              </a:ext>
            </a:extLst>
          </p:cNvPr>
          <p:cNvSpPr>
            <a:spLocks xmlns:a="http://schemas.openxmlformats.org/drawingml/2006/main" noGrp="1"/>
          </p:cNvSpPr>
          <p:nvPr/>
        </p:nvSpPr>
        <p:spPr>
          <a:xfrm xmlns:a="http://schemas.openxmlformats.org/drawingml/2006/main">
            <a:off x="2828544" y="4114800"/>
            <a:ext cx="487680" cy="28575"/>
          </a:xfrm>
          <a:prstGeom xmlns:a="http://schemas.openxmlformats.org/drawingml/2006/main" prst="rect">
            <a:avLst/>
          </a:prstGeom>
          <a:solidFill xmlns:a="http://schemas.openxmlformats.org/drawingml/2006/main">
            <a:srgbClr val="0066B1"/>
          </a:solidFill>
          <a:ln xmlns:a="http://schemas.openxmlformats.org/drawingml/2006/main" w="0">
            <a:noFill/>
          </a:ln>
        </p:spPr>
      </p:sp>
    </p:spTree>
    <p:extLst>
      <p:ext uri="{BB962C8B-B14F-4D97-AF65-F5344CB8AC3E}">
        <p14:creationId xmlns:p14="http://schemas.microsoft.com/office/powerpoint/2010/main" val="1211986476"/>
      </p:ext>
    </p:extLst>
  </p:cSld>
</p:sld>
</file>

<file path=ppt/slides/slide4.xml><?xml version="1.0" encoding="utf-8"?>
<p:sld xmlns:p="http://schemas.openxmlformats.org/presentationml/2006/main">
  <p:cSld>
    <p:bg>
      <p:bgPr>
        <a:solidFill xmlns:a="http://schemas.openxmlformats.org/drawingml/2006/main">
          <a:srgbClr val="D8D8D8"/>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63A3FBD6-D81B-4F8B-9ECB-49344857992F}"/>
              </a:ext>
            </a:extLst>
          </p:cNvPr>
          <p:cNvSpPr>
            <a:spLocks xmlns:a="http://schemas.openxmlformats.org/drawingml/2006/main" noGrp="1"/>
          </p:cNvSpPr>
          <p:nvPr/>
        </p:nvSpPr>
        <p:spPr>
          <a:xfrm xmlns:a="http://schemas.openxmlformats.org/drawingml/2006/main">
            <a:off x="666750" y="400050"/>
            <a:ext cx="10382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2400" b="1">
                <a:solidFill>
                  <a:srgbClr val="111111"/>
                </a:solidFill>
              </a:defRPr>
            </a:pPr>
            <a:r>
              <a:rPr sz="2400" b="1">
                <a:solidFill>
                  <a:srgbClr val="111111"/>
                </a:solidFill>
              </a:rPr>
              <a:t>中铝集团控股64.54%的股权格局与央企治理特征</a:t>
            </a:r>
          </a:p>
        </p:txBody>
      </p:sp>
      <p:sp>
        <p:nvSpPr>
          <p:cNvPr id="2" name="">
            <a:extLst xmlns:a="http://schemas.openxmlformats.org/drawingml/2006/main">
              <a:ext uri="{FF2B5EF4-FFF2-40B4-BE49-F238E27FC236}">
                <a16:creationId xmlns:a16="http://schemas.microsoft.com/office/drawing/2014/main" id="{0A60CD90-D5ED-4AAE-8508-FD53E8AEA93E}"/>
              </a:ext>
            </a:extLst>
          </p:cNvPr>
          <p:cNvSpPr>
            <a:spLocks xmlns:a="http://schemas.openxmlformats.org/drawingml/2006/main" noGrp="1"/>
          </p:cNvSpPr>
          <p:nvPr/>
        </p:nvSpPr>
        <p:spPr>
          <a:xfrm xmlns:a="http://schemas.openxmlformats.org/drawingml/2006/main">
            <a:off x="952500" y="4667250"/>
            <a:ext cx="666750" cy="762000"/>
          </a:xfrm>
          <a:prstGeom xmlns:a="http://schemas.openxmlformats.org/drawingml/2006/main" prst="rect">
            <a:avLst/>
          </a:prstGeom>
          <a:solidFill xmlns:a="http://schemas.openxmlformats.org/drawingml/2006/main">
            <a:srgbClr val="EEEEEE"/>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1FBA1AE3-821F-4C24-BF6A-CE3F699EB0E5}"/>
              </a:ext>
            </a:extLst>
          </p:cNvPr>
          <p:cNvSpPr>
            <a:spLocks xmlns:a="http://schemas.openxmlformats.org/drawingml/2006/main" noGrp="1"/>
          </p:cNvSpPr>
          <p:nvPr/>
        </p:nvSpPr>
        <p:spPr>
          <a:xfrm xmlns:a="http://schemas.openxmlformats.org/drawingml/2006/main">
            <a:off x="952500" y="5524500"/>
            <a:ext cx="66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900" b="1">
                <a:solidFill>
                  <a:srgbClr val="111111"/>
                </a:solidFill>
              </a:defRPr>
            </a:pPr>
            <a:r>
              <a:rPr sz="900" b="1">
                <a:solidFill>
                  <a:srgbClr val="111111"/>
                </a:solidFill>
              </a:rPr>
              <a:t>1</a:t>
            </a:r>
          </a:p>
        </p:txBody>
      </p:sp>
      <p:sp>
        <p:nvSpPr>
          <p:cNvPr id="4" name="">
            <a:extLst xmlns:a="http://schemas.openxmlformats.org/drawingml/2006/main">
              <a:ext uri="{FF2B5EF4-FFF2-40B4-BE49-F238E27FC236}">
                <a16:creationId xmlns:a16="http://schemas.microsoft.com/office/drawing/2014/main" id="{69D365C4-97FE-454E-8556-8752E336BBDF}"/>
              </a:ext>
            </a:extLst>
          </p:cNvPr>
          <p:cNvSpPr>
            <a:spLocks xmlns:a="http://schemas.openxmlformats.org/drawingml/2006/main" noGrp="1"/>
          </p:cNvSpPr>
          <p:nvPr/>
        </p:nvSpPr>
        <p:spPr>
          <a:xfrm xmlns:a="http://schemas.openxmlformats.org/drawingml/2006/main">
            <a:off x="2095500" y="4219575"/>
            <a:ext cx="666750" cy="1209675"/>
          </a:xfrm>
          <a:prstGeom xmlns:a="http://schemas.openxmlformats.org/drawingml/2006/main" prst="rect">
            <a:avLst/>
          </a:prstGeom>
          <a:solidFill xmlns:a="http://schemas.openxmlformats.org/drawingml/2006/main">
            <a:srgbClr val="2F8F2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5A687464-77A7-4D65-83DC-520E516E52F7}"/>
              </a:ext>
            </a:extLst>
          </p:cNvPr>
          <p:cNvSpPr>
            <a:spLocks xmlns:a="http://schemas.openxmlformats.org/drawingml/2006/main" noGrp="1"/>
          </p:cNvSpPr>
          <p:nvPr/>
        </p:nvSpPr>
        <p:spPr>
          <a:xfrm xmlns:a="http://schemas.openxmlformats.org/drawingml/2006/main">
            <a:off x="2095500" y="5524500"/>
            <a:ext cx="66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900" b="1">
                <a:solidFill>
                  <a:srgbClr val="111111"/>
                </a:solidFill>
              </a:defRPr>
            </a:pPr>
            <a:r>
              <a:rPr sz="900" b="1">
                <a:solidFill>
                  <a:srgbClr val="111111"/>
                </a:solidFill>
              </a:rPr>
              <a:t>2</a:t>
            </a:r>
          </a:p>
        </p:txBody>
      </p:sp>
      <p:sp>
        <p:nvSpPr>
          <p:cNvPr id="6" name="">
            <a:extLst xmlns:a="http://schemas.openxmlformats.org/drawingml/2006/main">
              <a:ext uri="{FF2B5EF4-FFF2-40B4-BE49-F238E27FC236}">
                <a16:creationId xmlns:a16="http://schemas.microsoft.com/office/drawing/2014/main" id="{EFB80404-E52D-486C-96D9-D3E66050AACA}"/>
              </a:ext>
            </a:extLst>
          </p:cNvPr>
          <p:cNvSpPr>
            <a:spLocks xmlns:a="http://schemas.openxmlformats.org/drawingml/2006/main" noGrp="1"/>
          </p:cNvSpPr>
          <p:nvPr/>
        </p:nvSpPr>
        <p:spPr>
          <a:xfrm xmlns:a="http://schemas.openxmlformats.org/drawingml/2006/main">
            <a:off x="3238500" y="3771900"/>
            <a:ext cx="666750" cy="1657350"/>
          </a:xfrm>
          <a:prstGeom xmlns:a="http://schemas.openxmlformats.org/drawingml/2006/main" prst="rect">
            <a:avLst/>
          </a:prstGeom>
          <a:solidFill xmlns:a="http://schemas.openxmlformats.org/drawingml/2006/main">
            <a:srgbClr val="EEEEEE"/>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B60FD400-6022-49B4-B5EF-5156CCA51E20}"/>
              </a:ext>
            </a:extLst>
          </p:cNvPr>
          <p:cNvSpPr>
            <a:spLocks xmlns:a="http://schemas.openxmlformats.org/drawingml/2006/main" noGrp="1"/>
          </p:cNvSpPr>
          <p:nvPr/>
        </p:nvSpPr>
        <p:spPr>
          <a:xfrm xmlns:a="http://schemas.openxmlformats.org/drawingml/2006/main">
            <a:off x="3238500" y="5524500"/>
            <a:ext cx="66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900" b="1">
                <a:solidFill>
                  <a:srgbClr val="111111"/>
                </a:solidFill>
              </a:defRPr>
            </a:pPr>
            <a:r>
              <a:rPr sz="900" b="1">
                <a:solidFill>
                  <a:srgbClr val="111111"/>
                </a:solidFill>
              </a:rPr>
              <a:t>3</a:t>
            </a:r>
          </a:p>
        </p:txBody>
      </p:sp>
      <p:sp>
        <p:nvSpPr>
          <p:cNvPr id="8" name="">
            <a:extLst xmlns:a="http://schemas.openxmlformats.org/drawingml/2006/main">
              <a:ext uri="{FF2B5EF4-FFF2-40B4-BE49-F238E27FC236}">
                <a16:creationId xmlns:a16="http://schemas.microsoft.com/office/drawing/2014/main" id="{5CF3CDCA-4798-4220-97D4-4423236F723F}"/>
              </a:ext>
            </a:extLst>
          </p:cNvPr>
          <p:cNvSpPr>
            <a:spLocks xmlns:a="http://schemas.openxmlformats.org/drawingml/2006/main" noGrp="1"/>
          </p:cNvSpPr>
          <p:nvPr/>
        </p:nvSpPr>
        <p:spPr>
          <a:xfrm xmlns:a="http://schemas.openxmlformats.org/drawingml/2006/main">
            <a:off x="4381500" y="3324225"/>
            <a:ext cx="666750" cy="2105025"/>
          </a:xfrm>
          <a:prstGeom xmlns:a="http://schemas.openxmlformats.org/drawingml/2006/main" prst="rect">
            <a:avLst/>
          </a:prstGeom>
          <a:solidFill xmlns:a="http://schemas.openxmlformats.org/drawingml/2006/main">
            <a:srgbClr val="2F8F2F"/>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85FB3759-2614-4ABA-8B78-BB9416741A4F}"/>
              </a:ext>
            </a:extLst>
          </p:cNvPr>
          <p:cNvSpPr>
            <a:spLocks xmlns:a="http://schemas.openxmlformats.org/drawingml/2006/main" noGrp="1"/>
          </p:cNvSpPr>
          <p:nvPr/>
        </p:nvSpPr>
        <p:spPr>
          <a:xfrm xmlns:a="http://schemas.openxmlformats.org/drawingml/2006/main">
            <a:off x="4381500" y="5524500"/>
            <a:ext cx="66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900" b="1">
                <a:solidFill>
                  <a:srgbClr val="111111"/>
                </a:solidFill>
              </a:defRPr>
            </a:pPr>
            <a:r>
              <a:rPr sz="900" b="1">
                <a:solidFill>
                  <a:srgbClr val="111111"/>
                </a:solidFill>
              </a:rPr>
              <a:t>4</a:t>
            </a:r>
          </a:p>
        </p:txBody>
      </p:sp>
      <p:sp>
        <p:nvSpPr>
          <p:cNvPr id="10" name="">
            <a:extLst xmlns:a="http://schemas.openxmlformats.org/drawingml/2006/main">
              <a:ext uri="{FF2B5EF4-FFF2-40B4-BE49-F238E27FC236}">
                <a16:creationId xmlns:a16="http://schemas.microsoft.com/office/drawing/2014/main" id="{E8B8DE97-67F6-4496-9C87-AA44D5F0E06F}"/>
              </a:ext>
            </a:extLst>
          </p:cNvPr>
          <p:cNvSpPr>
            <a:spLocks xmlns:a="http://schemas.openxmlformats.org/drawingml/2006/main" noGrp="1"/>
          </p:cNvSpPr>
          <p:nvPr/>
        </p:nvSpPr>
        <p:spPr>
          <a:xfrm xmlns:a="http://schemas.openxmlformats.org/drawingml/2006/main">
            <a:off x="5524500" y="2876550"/>
            <a:ext cx="666750" cy="2552700"/>
          </a:xfrm>
          <a:prstGeom xmlns:a="http://schemas.openxmlformats.org/drawingml/2006/main" prst="rect">
            <a:avLst/>
          </a:prstGeom>
          <a:solidFill xmlns:a="http://schemas.openxmlformats.org/drawingml/2006/main">
            <a:srgbClr val="EEEEEE"/>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1DF3A719-C20B-4C23-B241-E31D4D194DF0}"/>
              </a:ext>
            </a:extLst>
          </p:cNvPr>
          <p:cNvSpPr>
            <a:spLocks xmlns:a="http://schemas.openxmlformats.org/drawingml/2006/main" noGrp="1"/>
          </p:cNvSpPr>
          <p:nvPr/>
        </p:nvSpPr>
        <p:spPr>
          <a:xfrm xmlns:a="http://schemas.openxmlformats.org/drawingml/2006/main">
            <a:off x="5524500" y="5524500"/>
            <a:ext cx="66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900" b="1">
                <a:solidFill>
                  <a:srgbClr val="111111"/>
                </a:solidFill>
              </a:defRPr>
            </a:pPr>
            <a:r>
              <a:rPr sz="900" b="1">
                <a:solidFill>
                  <a:srgbClr val="111111"/>
                </a:solidFill>
              </a:rPr>
              <a:t>5</a:t>
            </a:r>
          </a:p>
        </p:txBody>
      </p:sp>
      <p:sp>
        <p:nvSpPr>
          <p:cNvPr id="12" name="">
            <a:extLst xmlns:a="http://schemas.openxmlformats.org/drawingml/2006/main">
              <a:ext uri="{FF2B5EF4-FFF2-40B4-BE49-F238E27FC236}">
                <a16:creationId xmlns:a16="http://schemas.microsoft.com/office/drawing/2014/main" id="{53CE6935-A541-49EE-84E3-0BB0A968671D}"/>
              </a:ext>
            </a:extLst>
          </p:cNvPr>
          <p:cNvSpPr>
            <a:spLocks xmlns:a="http://schemas.openxmlformats.org/drawingml/2006/main" noGrp="1"/>
          </p:cNvSpPr>
          <p:nvPr/>
        </p:nvSpPr>
        <p:spPr>
          <a:xfrm xmlns:a="http://schemas.openxmlformats.org/drawingml/2006/main">
            <a:off x="6667500" y="2428875"/>
            <a:ext cx="666750" cy="3000375"/>
          </a:xfrm>
          <a:prstGeom xmlns:a="http://schemas.openxmlformats.org/drawingml/2006/main" prst="rect">
            <a:avLst/>
          </a:prstGeom>
          <a:solidFill xmlns:a="http://schemas.openxmlformats.org/drawingml/2006/main">
            <a:srgbClr val="0066B1"/>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4F8D5F3E-0CF8-4E64-B21C-DDF7BD016C55}"/>
              </a:ext>
            </a:extLst>
          </p:cNvPr>
          <p:cNvSpPr>
            <a:spLocks xmlns:a="http://schemas.openxmlformats.org/drawingml/2006/main" noGrp="1"/>
          </p:cNvSpPr>
          <p:nvPr/>
        </p:nvSpPr>
        <p:spPr>
          <a:xfrm xmlns:a="http://schemas.openxmlformats.org/drawingml/2006/main">
            <a:off x="6667500" y="5524500"/>
            <a:ext cx="66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900" b="1">
                <a:solidFill>
                  <a:srgbClr val="111111"/>
                </a:solidFill>
              </a:defRPr>
            </a:pPr>
            <a:r>
              <a:rPr sz="900" b="1">
                <a:solidFill>
                  <a:srgbClr val="111111"/>
                </a:solidFill>
              </a:rPr>
              <a:t>6</a:t>
            </a:r>
          </a:p>
        </p:txBody>
      </p:sp>
      <p:sp>
        <p:nvSpPr>
          <p:cNvPr id="14" name="">
            <a:extLst xmlns:a="http://schemas.openxmlformats.org/drawingml/2006/main">
              <a:ext uri="{FF2B5EF4-FFF2-40B4-BE49-F238E27FC236}">
                <a16:creationId xmlns:a16="http://schemas.microsoft.com/office/drawing/2014/main" id="{B80ADCD8-C1BE-4090-8608-8F731B26B35A}"/>
              </a:ext>
            </a:extLst>
          </p:cNvPr>
          <p:cNvSpPr>
            <a:spLocks xmlns:a="http://schemas.openxmlformats.org/drawingml/2006/main" noGrp="1"/>
          </p:cNvSpPr>
          <p:nvPr/>
        </p:nvSpPr>
        <p:spPr>
          <a:xfrm xmlns:a="http://schemas.openxmlformats.org/drawingml/2006/main">
            <a:off x="6632448" y="1695450"/>
            <a:ext cx="85725" cy="85725"/>
          </a:xfrm>
          <a:prstGeom xmlns:a="http://schemas.openxmlformats.org/drawingml/2006/main" prst="rect">
            <a:avLst/>
          </a:prstGeom>
          <a:solidFill xmlns:a="http://schemas.openxmlformats.org/drawingml/2006/main">
            <a:srgbClr val="0066B1"/>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18CEE3E0-A311-47CD-B83B-7060C6787D24}"/>
              </a:ext>
            </a:extLst>
          </p:cNvPr>
          <p:cNvSpPr>
            <a:spLocks xmlns:a="http://schemas.openxmlformats.org/drawingml/2006/main" noGrp="1"/>
          </p:cNvSpPr>
          <p:nvPr/>
        </p:nvSpPr>
        <p:spPr>
          <a:xfrm xmlns:a="http://schemas.openxmlformats.org/drawingml/2006/main">
            <a:off x="6880098" y="1619250"/>
            <a:ext cx="2190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200" b="1">
                <a:solidFill>
                  <a:srgbClr val="111111"/>
                </a:solidFill>
              </a:defRPr>
            </a:pPr>
            <a:r>
              <a:rPr sz="1200" b="1">
                <a:solidFill>
                  <a:srgbClr val="111111"/>
                </a:solidFill>
              </a:rPr>
              <a:t>中国铜业的股权结构呈现"央企控股+地方国资参股"的混合所有制特征，实际控制人为国务院国资委。</a:t>
            </a:r>
          </a:p>
        </p:txBody>
      </p:sp>
      <p:sp>
        <p:nvSpPr>
          <p:cNvPr id="16" name="">
            <a:extLst xmlns:a="http://schemas.openxmlformats.org/drawingml/2006/main">
              <a:ext uri="{FF2B5EF4-FFF2-40B4-BE49-F238E27FC236}">
                <a16:creationId xmlns:a16="http://schemas.microsoft.com/office/drawing/2014/main" id="{AC0DAF54-9ACE-41DD-B124-BC612463FFA5}"/>
              </a:ext>
            </a:extLst>
          </p:cNvPr>
          <p:cNvSpPr>
            <a:spLocks xmlns:a="http://schemas.openxmlformats.org/drawingml/2006/main" noGrp="1"/>
          </p:cNvSpPr>
          <p:nvPr/>
        </p:nvSpPr>
        <p:spPr>
          <a:xfrm xmlns:a="http://schemas.openxmlformats.org/drawingml/2006/main">
            <a:off x="6632448" y="2533650"/>
            <a:ext cx="85725" cy="85725"/>
          </a:xfrm>
          <a:prstGeom xmlns:a="http://schemas.openxmlformats.org/drawingml/2006/main" prst="rect">
            <a:avLst/>
          </a:prstGeom>
          <a:solidFill xmlns:a="http://schemas.openxmlformats.org/drawingml/2006/main">
            <a:srgbClr val="0066B1"/>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8B6F2BBD-AD00-461B-AEA2-76BEB327166E}"/>
              </a:ext>
            </a:extLst>
          </p:cNvPr>
          <p:cNvSpPr>
            <a:spLocks xmlns:a="http://schemas.openxmlformats.org/drawingml/2006/main" noGrp="1"/>
          </p:cNvSpPr>
          <p:nvPr/>
        </p:nvSpPr>
        <p:spPr>
          <a:xfrm xmlns:a="http://schemas.openxmlformats.org/drawingml/2006/main">
            <a:off x="6880098" y="2457450"/>
            <a:ext cx="2190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200" b="0">
                <a:solidFill>
                  <a:srgbClr val="111111"/>
                </a:solidFill>
              </a:defRPr>
            </a:pPr>
            <a:r>
              <a:rPr sz="1200" b="0">
                <a:solidFill>
                  <a:srgbClr val="111111"/>
                </a:solidFill>
              </a:rPr>
              <a:t>| 股东名称 | 认缴出资额（万元） | 持股比例（%） |</a:t>
            </a:r>
          </a:p>
        </p:txBody>
      </p:sp>
      <p:sp>
        <p:nvSpPr>
          <p:cNvPr id="18" name="">
            <a:extLst xmlns:a="http://schemas.openxmlformats.org/drawingml/2006/main">
              <a:ext uri="{FF2B5EF4-FFF2-40B4-BE49-F238E27FC236}">
                <a16:creationId xmlns:a16="http://schemas.microsoft.com/office/drawing/2014/main" id="{C56C33A0-2A0D-4E36-B66B-F831A230C7F4}"/>
              </a:ext>
            </a:extLst>
          </p:cNvPr>
          <p:cNvSpPr>
            <a:spLocks xmlns:a="http://schemas.openxmlformats.org/drawingml/2006/main" noGrp="1"/>
          </p:cNvSpPr>
          <p:nvPr/>
        </p:nvSpPr>
        <p:spPr>
          <a:xfrm xmlns:a="http://schemas.openxmlformats.org/drawingml/2006/main">
            <a:off x="6632448" y="3371850"/>
            <a:ext cx="85725" cy="85725"/>
          </a:xfrm>
          <a:prstGeom xmlns:a="http://schemas.openxmlformats.org/drawingml/2006/main" prst="rect">
            <a:avLst/>
          </a:prstGeom>
          <a:solidFill xmlns:a="http://schemas.openxmlformats.org/drawingml/2006/main">
            <a:srgbClr val="0066B1"/>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DF3FA1B6-76AE-4BE3-A431-B2A826F0920C}"/>
              </a:ext>
            </a:extLst>
          </p:cNvPr>
          <p:cNvSpPr>
            <a:spLocks xmlns:a="http://schemas.openxmlformats.org/drawingml/2006/main" noGrp="1"/>
          </p:cNvSpPr>
          <p:nvPr/>
        </p:nvSpPr>
        <p:spPr>
          <a:xfrm xmlns:a="http://schemas.openxmlformats.org/drawingml/2006/main">
            <a:off x="6880098" y="3295650"/>
            <a:ext cx="2190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200" b="0">
                <a:solidFill>
                  <a:srgbClr val="111111"/>
                </a:solidFill>
              </a:defRPr>
            </a:pPr>
            <a:r>
              <a:rPr sz="1200" b="0">
                <a:solidFill>
                  <a:srgbClr val="111111"/>
                </a:solidFill>
              </a:rPr>
              <a:t>| 中国铝业集团有限公司 | 2,749,327.36 | 64.54 |</a:t>
            </a:r>
          </a:p>
        </p:txBody>
      </p:sp>
      <p:sp>
        <p:nvSpPr>
          <p:cNvPr id="20" name="">
            <a:extLst xmlns:a="http://schemas.openxmlformats.org/drawingml/2006/main">
              <a:ext uri="{FF2B5EF4-FFF2-40B4-BE49-F238E27FC236}">
                <a16:creationId xmlns:a16="http://schemas.microsoft.com/office/drawing/2014/main" id="{D743CEAE-83CC-4436-A7BB-549800A9077D}"/>
              </a:ext>
            </a:extLst>
          </p:cNvPr>
          <p:cNvSpPr>
            <a:spLocks xmlns:a="http://schemas.openxmlformats.org/drawingml/2006/main" noGrp="1"/>
          </p:cNvSpPr>
          <p:nvPr/>
        </p:nvSpPr>
        <p:spPr>
          <a:xfrm xmlns:a="http://schemas.openxmlformats.org/drawingml/2006/main">
            <a:off x="6632448" y="4210050"/>
            <a:ext cx="85725" cy="85725"/>
          </a:xfrm>
          <a:prstGeom xmlns:a="http://schemas.openxmlformats.org/drawingml/2006/main" prst="rect">
            <a:avLst/>
          </a:prstGeom>
          <a:solidFill xmlns:a="http://schemas.openxmlformats.org/drawingml/2006/main">
            <a:srgbClr val="0066B1"/>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5E8571DF-503C-455A-919D-C98E6F90B335}"/>
              </a:ext>
            </a:extLst>
          </p:cNvPr>
          <p:cNvSpPr>
            <a:spLocks xmlns:a="http://schemas.openxmlformats.org/drawingml/2006/main" noGrp="1"/>
          </p:cNvSpPr>
          <p:nvPr/>
        </p:nvSpPr>
        <p:spPr>
          <a:xfrm xmlns:a="http://schemas.openxmlformats.org/drawingml/2006/main">
            <a:off x="6880098" y="4133850"/>
            <a:ext cx="2190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200" b="0">
                <a:solidFill>
                  <a:srgbClr val="111111"/>
                </a:solidFill>
              </a:defRPr>
            </a:pPr>
            <a:r>
              <a:rPr sz="1200" b="0">
                <a:solidFill>
                  <a:srgbClr val="111111"/>
                </a:solidFill>
              </a:rPr>
              <a:t>| 云南省能源集团有限公司 | 1,415,893.82 | 33.24 |</a:t>
            </a:r>
          </a:p>
        </p:txBody>
      </p:sp>
    </p:spTree>
    <p:extLst>
      <p:ext uri="{BB962C8B-B14F-4D97-AF65-F5344CB8AC3E}">
        <p14:creationId xmlns:p14="http://schemas.microsoft.com/office/powerpoint/2010/main" val="241415466"/>
      </p:ext>
    </p:extLst>
  </p:cSld>
</p:sld>
</file>

<file path=ppt/slides/slide5.xml><?xml version="1.0" encoding="utf-8"?>
<p:sld xmlns:p="http://schemas.openxmlformats.org/presentationml/2006/main">
  <p:cSld>
    <p:bg>
      <p:bgPr>
        <a:solidFill xmlns:a="http://schemas.openxmlformats.org/drawingml/2006/main">
          <a:srgbClr val="D8D8D8"/>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C8B68A46-9E07-4F47-960E-34F45FEA7AAD}"/>
              </a:ext>
            </a:extLst>
          </p:cNvPr>
          <p:cNvSpPr>
            <a:spLocks xmlns:a="http://schemas.openxmlformats.org/drawingml/2006/main" noGrp="1"/>
          </p:cNvSpPr>
          <p:nvPr/>
        </p:nvSpPr>
        <p:spPr>
          <a:xfrm xmlns:a="http://schemas.openxmlformats.org/drawingml/2006/main">
            <a:off x="666750" y="400050"/>
            <a:ext cx="10382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2400" b="1">
                <a:solidFill>
                  <a:srgbClr val="111111"/>
                </a:solidFill>
              </a:defRPr>
            </a:pPr>
            <a:r>
              <a:rPr sz="2400" b="1">
                <a:solidFill>
                  <a:srgbClr val="111111"/>
                </a:solidFill>
              </a:rPr>
              <a:t>28,380名员工、60余户实体企业、覆盖17省6国的产业版图</a:t>
            </a:r>
          </a:p>
        </p:txBody>
      </p:sp>
      <p:sp>
        <p:nvSpPr>
          <p:cNvPr id="2" name="">
            <a:extLst xmlns:a="http://schemas.openxmlformats.org/drawingml/2006/main">
              <a:ext uri="{FF2B5EF4-FFF2-40B4-BE49-F238E27FC236}">
                <a16:creationId xmlns:a16="http://schemas.microsoft.com/office/drawing/2014/main" id="{A0AC75A2-7DA6-4C39-AFF9-03887C0B7E03}"/>
              </a:ext>
            </a:extLst>
          </p:cNvPr>
          <p:cNvSpPr>
            <a:spLocks xmlns:a="http://schemas.openxmlformats.org/drawingml/2006/main" noGrp="1"/>
          </p:cNvSpPr>
          <p:nvPr/>
        </p:nvSpPr>
        <p:spPr>
          <a:xfrm xmlns:a="http://schemas.openxmlformats.org/drawingml/2006/main">
            <a:off x="952500" y="4667250"/>
            <a:ext cx="666750" cy="762000"/>
          </a:xfrm>
          <a:prstGeom xmlns:a="http://schemas.openxmlformats.org/drawingml/2006/main" prst="rect">
            <a:avLst/>
          </a:prstGeom>
          <a:solidFill xmlns:a="http://schemas.openxmlformats.org/drawingml/2006/main">
            <a:srgbClr val="EEEEEE"/>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402201B0-5CA9-4973-944A-2025EDE485AE}"/>
              </a:ext>
            </a:extLst>
          </p:cNvPr>
          <p:cNvSpPr>
            <a:spLocks xmlns:a="http://schemas.openxmlformats.org/drawingml/2006/main" noGrp="1"/>
          </p:cNvSpPr>
          <p:nvPr/>
        </p:nvSpPr>
        <p:spPr>
          <a:xfrm xmlns:a="http://schemas.openxmlformats.org/drawingml/2006/main">
            <a:off x="952500" y="5524500"/>
            <a:ext cx="66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900" b="1">
                <a:solidFill>
                  <a:srgbClr val="111111"/>
                </a:solidFill>
              </a:defRPr>
            </a:pPr>
            <a:r>
              <a:rPr sz="900" b="1">
                <a:solidFill>
                  <a:srgbClr val="111111"/>
                </a:solidFill>
              </a:rPr>
              <a:t>1</a:t>
            </a:r>
          </a:p>
        </p:txBody>
      </p:sp>
      <p:sp>
        <p:nvSpPr>
          <p:cNvPr id="4" name="">
            <a:extLst xmlns:a="http://schemas.openxmlformats.org/drawingml/2006/main">
              <a:ext uri="{FF2B5EF4-FFF2-40B4-BE49-F238E27FC236}">
                <a16:creationId xmlns:a16="http://schemas.microsoft.com/office/drawing/2014/main" id="{FA1375A8-AC5F-4CE3-91F3-6750DEF35E41}"/>
              </a:ext>
            </a:extLst>
          </p:cNvPr>
          <p:cNvSpPr>
            <a:spLocks xmlns:a="http://schemas.openxmlformats.org/drawingml/2006/main" noGrp="1"/>
          </p:cNvSpPr>
          <p:nvPr/>
        </p:nvSpPr>
        <p:spPr>
          <a:xfrm xmlns:a="http://schemas.openxmlformats.org/drawingml/2006/main">
            <a:off x="2095500" y="4219575"/>
            <a:ext cx="666750" cy="1209675"/>
          </a:xfrm>
          <a:prstGeom xmlns:a="http://schemas.openxmlformats.org/drawingml/2006/main" prst="rect">
            <a:avLst/>
          </a:prstGeom>
          <a:solidFill xmlns:a="http://schemas.openxmlformats.org/drawingml/2006/main">
            <a:srgbClr val="2F8F2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FEC84B9C-7510-4E55-8C9E-5F9EE8723814}"/>
              </a:ext>
            </a:extLst>
          </p:cNvPr>
          <p:cNvSpPr>
            <a:spLocks xmlns:a="http://schemas.openxmlformats.org/drawingml/2006/main" noGrp="1"/>
          </p:cNvSpPr>
          <p:nvPr/>
        </p:nvSpPr>
        <p:spPr>
          <a:xfrm xmlns:a="http://schemas.openxmlformats.org/drawingml/2006/main">
            <a:off x="2095500" y="5524500"/>
            <a:ext cx="66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900" b="1">
                <a:solidFill>
                  <a:srgbClr val="111111"/>
                </a:solidFill>
              </a:defRPr>
            </a:pPr>
            <a:r>
              <a:rPr sz="900" b="1">
                <a:solidFill>
                  <a:srgbClr val="111111"/>
                </a:solidFill>
              </a:rPr>
              <a:t>2</a:t>
            </a:r>
          </a:p>
        </p:txBody>
      </p:sp>
      <p:sp>
        <p:nvSpPr>
          <p:cNvPr id="6" name="">
            <a:extLst xmlns:a="http://schemas.openxmlformats.org/drawingml/2006/main">
              <a:ext uri="{FF2B5EF4-FFF2-40B4-BE49-F238E27FC236}">
                <a16:creationId xmlns:a16="http://schemas.microsoft.com/office/drawing/2014/main" id="{AF50670B-32A5-4C88-8A52-A159B706B607}"/>
              </a:ext>
            </a:extLst>
          </p:cNvPr>
          <p:cNvSpPr>
            <a:spLocks xmlns:a="http://schemas.openxmlformats.org/drawingml/2006/main" noGrp="1"/>
          </p:cNvSpPr>
          <p:nvPr/>
        </p:nvSpPr>
        <p:spPr>
          <a:xfrm xmlns:a="http://schemas.openxmlformats.org/drawingml/2006/main">
            <a:off x="3238500" y="3771900"/>
            <a:ext cx="666750" cy="1657350"/>
          </a:xfrm>
          <a:prstGeom xmlns:a="http://schemas.openxmlformats.org/drawingml/2006/main" prst="rect">
            <a:avLst/>
          </a:prstGeom>
          <a:solidFill xmlns:a="http://schemas.openxmlformats.org/drawingml/2006/main">
            <a:srgbClr val="EEEEEE"/>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FAC3836B-21C9-476E-AC37-F68F7AAA0962}"/>
              </a:ext>
            </a:extLst>
          </p:cNvPr>
          <p:cNvSpPr>
            <a:spLocks xmlns:a="http://schemas.openxmlformats.org/drawingml/2006/main" noGrp="1"/>
          </p:cNvSpPr>
          <p:nvPr/>
        </p:nvSpPr>
        <p:spPr>
          <a:xfrm xmlns:a="http://schemas.openxmlformats.org/drawingml/2006/main">
            <a:off x="3238500" y="5524500"/>
            <a:ext cx="66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900" b="1">
                <a:solidFill>
                  <a:srgbClr val="111111"/>
                </a:solidFill>
              </a:defRPr>
            </a:pPr>
            <a:r>
              <a:rPr sz="900" b="1">
                <a:solidFill>
                  <a:srgbClr val="111111"/>
                </a:solidFill>
              </a:rPr>
              <a:t>3</a:t>
            </a:r>
          </a:p>
        </p:txBody>
      </p:sp>
      <p:sp>
        <p:nvSpPr>
          <p:cNvPr id="8" name="">
            <a:extLst xmlns:a="http://schemas.openxmlformats.org/drawingml/2006/main">
              <a:ext uri="{FF2B5EF4-FFF2-40B4-BE49-F238E27FC236}">
                <a16:creationId xmlns:a16="http://schemas.microsoft.com/office/drawing/2014/main" id="{74202497-2521-4DAF-A9D5-1EBFAF4FD877}"/>
              </a:ext>
            </a:extLst>
          </p:cNvPr>
          <p:cNvSpPr>
            <a:spLocks xmlns:a="http://schemas.openxmlformats.org/drawingml/2006/main" noGrp="1"/>
          </p:cNvSpPr>
          <p:nvPr/>
        </p:nvSpPr>
        <p:spPr>
          <a:xfrm xmlns:a="http://schemas.openxmlformats.org/drawingml/2006/main">
            <a:off x="4381500" y="3324225"/>
            <a:ext cx="666750" cy="2105025"/>
          </a:xfrm>
          <a:prstGeom xmlns:a="http://schemas.openxmlformats.org/drawingml/2006/main" prst="rect">
            <a:avLst/>
          </a:prstGeom>
          <a:solidFill xmlns:a="http://schemas.openxmlformats.org/drawingml/2006/main">
            <a:srgbClr val="2F8F2F"/>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4E5B3F11-9B34-4D49-B047-3D7E9F9D0412}"/>
              </a:ext>
            </a:extLst>
          </p:cNvPr>
          <p:cNvSpPr>
            <a:spLocks xmlns:a="http://schemas.openxmlformats.org/drawingml/2006/main" noGrp="1"/>
          </p:cNvSpPr>
          <p:nvPr/>
        </p:nvSpPr>
        <p:spPr>
          <a:xfrm xmlns:a="http://schemas.openxmlformats.org/drawingml/2006/main">
            <a:off x="4381500" y="5524500"/>
            <a:ext cx="66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900" b="1">
                <a:solidFill>
                  <a:srgbClr val="111111"/>
                </a:solidFill>
              </a:defRPr>
            </a:pPr>
            <a:r>
              <a:rPr sz="900" b="1">
                <a:solidFill>
                  <a:srgbClr val="111111"/>
                </a:solidFill>
              </a:rPr>
              <a:t>4</a:t>
            </a:r>
          </a:p>
        </p:txBody>
      </p:sp>
      <p:sp>
        <p:nvSpPr>
          <p:cNvPr id="10" name="">
            <a:extLst xmlns:a="http://schemas.openxmlformats.org/drawingml/2006/main">
              <a:ext uri="{FF2B5EF4-FFF2-40B4-BE49-F238E27FC236}">
                <a16:creationId xmlns:a16="http://schemas.microsoft.com/office/drawing/2014/main" id="{2E63ACE6-3D85-4AFC-91D1-4D93ABB51470}"/>
              </a:ext>
            </a:extLst>
          </p:cNvPr>
          <p:cNvSpPr>
            <a:spLocks xmlns:a="http://schemas.openxmlformats.org/drawingml/2006/main" noGrp="1"/>
          </p:cNvSpPr>
          <p:nvPr/>
        </p:nvSpPr>
        <p:spPr>
          <a:xfrm xmlns:a="http://schemas.openxmlformats.org/drawingml/2006/main">
            <a:off x="5524500" y="2876550"/>
            <a:ext cx="666750" cy="2552700"/>
          </a:xfrm>
          <a:prstGeom xmlns:a="http://schemas.openxmlformats.org/drawingml/2006/main" prst="rect">
            <a:avLst/>
          </a:prstGeom>
          <a:solidFill xmlns:a="http://schemas.openxmlformats.org/drawingml/2006/main">
            <a:srgbClr val="EEEEEE"/>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F30683F1-B078-495E-ABC3-9405379D0B2A}"/>
              </a:ext>
            </a:extLst>
          </p:cNvPr>
          <p:cNvSpPr>
            <a:spLocks xmlns:a="http://schemas.openxmlformats.org/drawingml/2006/main" noGrp="1"/>
          </p:cNvSpPr>
          <p:nvPr/>
        </p:nvSpPr>
        <p:spPr>
          <a:xfrm xmlns:a="http://schemas.openxmlformats.org/drawingml/2006/main">
            <a:off x="5524500" y="5524500"/>
            <a:ext cx="66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900" b="1">
                <a:solidFill>
                  <a:srgbClr val="111111"/>
                </a:solidFill>
              </a:defRPr>
            </a:pPr>
            <a:r>
              <a:rPr sz="900" b="1">
                <a:solidFill>
                  <a:srgbClr val="111111"/>
                </a:solidFill>
              </a:rPr>
              <a:t>5</a:t>
            </a:r>
          </a:p>
        </p:txBody>
      </p:sp>
      <p:sp>
        <p:nvSpPr>
          <p:cNvPr id="12" name="">
            <a:extLst xmlns:a="http://schemas.openxmlformats.org/drawingml/2006/main">
              <a:ext uri="{FF2B5EF4-FFF2-40B4-BE49-F238E27FC236}">
                <a16:creationId xmlns:a16="http://schemas.microsoft.com/office/drawing/2014/main" id="{024DBC6C-2D26-4802-BEFD-93BEC1B9DBE3}"/>
              </a:ext>
            </a:extLst>
          </p:cNvPr>
          <p:cNvSpPr>
            <a:spLocks xmlns:a="http://schemas.openxmlformats.org/drawingml/2006/main" noGrp="1"/>
          </p:cNvSpPr>
          <p:nvPr/>
        </p:nvSpPr>
        <p:spPr>
          <a:xfrm xmlns:a="http://schemas.openxmlformats.org/drawingml/2006/main">
            <a:off x="6667500" y="2428875"/>
            <a:ext cx="666750" cy="3000375"/>
          </a:xfrm>
          <a:prstGeom xmlns:a="http://schemas.openxmlformats.org/drawingml/2006/main" prst="rect">
            <a:avLst/>
          </a:prstGeom>
          <a:solidFill xmlns:a="http://schemas.openxmlformats.org/drawingml/2006/main">
            <a:srgbClr val="0066B1"/>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4B59AD58-BC5B-4874-8236-9F86E462C922}"/>
              </a:ext>
            </a:extLst>
          </p:cNvPr>
          <p:cNvSpPr>
            <a:spLocks xmlns:a="http://schemas.openxmlformats.org/drawingml/2006/main" noGrp="1"/>
          </p:cNvSpPr>
          <p:nvPr/>
        </p:nvSpPr>
        <p:spPr>
          <a:xfrm xmlns:a="http://schemas.openxmlformats.org/drawingml/2006/main">
            <a:off x="6667500" y="5524500"/>
            <a:ext cx="66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900" b="1">
                <a:solidFill>
                  <a:srgbClr val="111111"/>
                </a:solidFill>
              </a:defRPr>
            </a:pPr>
            <a:r>
              <a:rPr sz="900" b="1">
                <a:solidFill>
                  <a:srgbClr val="111111"/>
                </a:solidFill>
              </a:rPr>
              <a:t>6</a:t>
            </a:r>
          </a:p>
        </p:txBody>
      </p:sp>
      <p:sp>
        <p:nvSpPr>
          <p:cNvPr id="14" name="">
            <a:extLst xmlns:a="http://schemas.openxmlformats.org/drawingml/2006/main">
              <a:ext uri="{FF2B5EF4-FFF2-40B4-BE49-F238E27FC236}">
                <a16:creationId xmlns:a16="http://schemas.microsoft.com/office/drawing/2014/main" id="{0AC3ECB8-72E6-4910-9F83-8558D3507652}"/>
              </a:ext>
            </a:extLst>
          </p:cNvPr>
          <p:cNvSpPr>
            <a:spLocks xmlns:a="http://schemas.openxmlformats.org/drawingml/2006/main" noGrp="1"/>
          </p:cNvSpPr>
          <p:nvPr/>
        </p:nvSpPr>
        <p:spPr>
          <a:xfrm xmlns:a="http://schemas.openxmlformats.org/drawingml/2006/main">
            <a:off x="6632448" y="1695450"/>
            <a:ext cx="85725" cy="85725"/>
          </a:xfrm>
          <a:prstGeom xmlns:a="http://schemas.openxmlformats.org/drawingml/2006/main" prst="rect">
            <a:avLst/>
          </a:prstGeom>
          <a:solidFill xmlns:a="http://schemas.openxmlformats.org/drawingml/2006/main">
            <a:srgbClr val="0066B1"/>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159BA395-C99D-47AA-9FC2-80ABD67630D0}"/>
              </a:ext>
            </a:extLst>
          </p:cNvPr>
          <p:cNvSpPr>
            <a:spLocks xmlns:a="http://schemas.openxmlformats.org/drawingml/2006/main" noGrp="1"/>
          </p:cNvSpPr>
          <p:nvPr/>
        </p:nvSpPr>
        <p:spPr>
          <a:xfrm xmlns:a="http://schemas.openxmlformats.org/drawingml/2006/main">
            <a:off x="6880098" y="1619250"/>
            <a:ext cx="2190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200" b="1">
                <a:solidFill>
                  <a:srgbClr val="111111"/>
                </a:solidFill>
              </a:defRPr>
            </a:pPr>
            <a:r>
              <a:rPr sz="1200" b="1">
                <a:solidFill>
                  <a:srgbClr val="111111"/>
                </a:solidFill>
              </a:rPr>
              <a:t>截至2024年末，中国铜业在册员工28,380人，下属实体企业60余户，产业覆盖境内17个省（自治区、直辖市）和境外6个国家 。</a:t>
            </a:r>
          </a:p>
        </p:txBody>
      </p:sp>
      <p:sp>
        <p:nvSpPr>
          <p:cNvPr id="16" name="">
            <a:extLst xmlns:a="http://schemas.openxmlformats.org/drawingml/2006/main">
              <a:ext uri="{FF2B5EF4-FFF2-40B4-BE49-F238E27FC236}">
                <a16:creationId xmlns:a16="http://schemas.microsoft.com/office/drawing/2014/main" id="{2554D42C-C073-4952-B89C-F3E28964ABCA}"/>
              </a:ext>
            </a:extLst>
          </p:cNvPr>
          <p:cNvSpPr>
            <a:spLocks xmlns:a="http://schemas.openxmlformats.org/drawingml/2006/main" noGrp="1"/>
          </p:cNvSpPr>
          <p:nvPr/>
        </p:nvSpPr>
        <p:spPr>
          <a:xfrm xmlns:a="http://schemas.openxmlformats.org/drawingml/2006/main">
            <a:off x="6632448" y="2533650"/>
            <a:ext cx="85725" cy="85725"/>
          </a:xfrm>
          <a:prstGeom xmlns:a="http://schemas.openxmlformats.org/drawingml/2006/main" prst="rect">
            <a:avLst/>
          </a:prstGeom>
          <a:solidFill xmlns:a="http://schemas.openxmlformats.org/drawingml/2006/main">
            <a:srgbClr val="0066B1"/>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74FC5703-ED33-426D-A2AE-8755A7886B15}"/>
              </a:ext>
            </a:extLst>
          </p:cNvPr>
          <p:cNvSpPr>
            <a:spLocks xmlns:a="http://schemas.openxmlformats.org/drawingml/2006/main" noGrp="1"/>
          </p:cNvSpPr>
          <p:nvPr/>
        </p:nvSpPr>
        <p:spPr>
          <a:xfrm xmlns:a="http://schemas.openxmlformats.org/drawingml/2006/main">
            <a:off x="6880098" y="2457450"/>
            <a:ext cx="2190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200" b="0">
                <a:solidFill>
                  <a:srgbClr val="111111"/>
                </a:solidFill>
              </a:defRPr>
            </a:pPr>
            <a:r>
              <a:rPr sz="1200" b="0">
                <a:solidFill>
                  <a:srgbClr val="111111"/>
                </a:solidFill>
              </a:rPr>
              <a:t>冶炼基地：西南铜业（云南安宁，2025年国家卓越级智能工厂）、东南铜业（福建宁德）、易门铜业（云南玉溪）</a:t>
            </a:r>
          </a:p>
        </p:txBody>
      </p:sp>
      <p:sp>
        <p:nvSpPr>
          <p:cNvPr id="18" name="">
            <a:extLst xmlns:a="http://schemas.openxmlformats.org/drawingml/2006/main">
              <a:ext uri="{FF2B5EF4-FFF2-40B4-BE49-F238E27FC236}">
                <a16:creationId xmlns:a16="http://schemas.microsoft.com/office/drawing/2014/main" id="{74E1CC2E-8F47-435C-B721-285FCAA86B25}"/>
              </a:ext>
            </a:extLst>
          </p:cNvPr>
          <p:cNvSpPr>
            <a:spLocks xmlns:a="http://schemas.openxmlformats.org/drawingml/2006/main" noGrp="1"/>
          </p:cNvSpPr>
          <p:nvPr/>
        </p:nvSpPr>
        <p:spPr>
          <a:xfrm xmlns:a="http://schemas.openxmlformats.org/drawingml/2006/main">
            <a:off x="6632448" y="3371850"/>
            <a:ext cx="85725" cy="85725"/>
          </a:xfrm>
          <a:prstGeom xmlns:a="http://schemas.openxmlformats.org/drawingml/2006/main" prst="rect">
            <a:avLst/>
          </a:prstGeom>
          <a:solidFill xmlns:a="http://schemas.openxmlformats.org/drawingml/2006/main">
            <a:srgbClr val="0066B1"/>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CB9C71FC-48C5-45D4-8115-D38802EC88BF}"/>
              </a:ext>
            </a:extLst>
          </p:cNvPr>
          <p:cNvSpPr>
            <a:spLocks xmlns:a="http://schemas.openxmlformats.org/drawingml/2006/main" noGrp="1"/>
          </p:cNvSpPr>
          <p:nvPr/>
        </p:nvSpPr>
        <p:spPr>
          <a:xfrm xmlns:a="http://schemas.openxmlformats.org/drawingml/2006/main">
            <a:off x="6880098" y="3295650"/>
            <a:ext cx="2190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200" b="0">
                <a:solidFill>
                  <a:srgbClr val="111111"/>
                </a:solidFill>
              </a:defRPr>
            </a:pPr>
            <a:r>
              <a:rPr sz="1200" b="0">
                <a:solidFill>
                  <a:srgbClr val="111111"/>
                </a:solidFill>
              </a:rPr>
              <a:t>矿山企业：凉山矿业（四川会理）、迪庆有色（海拔3700米）、秘鲁特罗莫克铜矿（海外资源基地）</a:t>
            </a:r>
          </a:p>
        </p:txBody>
      </p:sp>
      <p:sp>
        <p:nvSpPr>
          <p:cNvPr id="20" name="">
            <a:extLst xmlns:a="http://schemas.openxmlformats.org/drawingml/2006/main">
              <a:ext uri="{FF2B5EF4-FFF2-40B4-BE49-F238E27FC236}">
                <a16:creationId xmlns:a16="http://schemas.microsoft.com/office/drawing/2014/main" id="{0E474D55-8425-4F95-9AC9-DD28C58A6EAB}"/>
              </a:ext>
            </a:extLst>
          </p:cNvPr>
          <p:cNvSpPr>
            <a:spLocks xmlns:a="http://schemas.openxmlformats.org/drawingml/2006/main" noGrp="1"/>
          </p:cNvSpPr>
          <p:nvPr/>
        </p:nvSpPr>
        <p:spPr>
          <a:xfrm xmlns:a="http://schemas.openxmlformats.org/drawingml/2006/main">
            <a:off x="6632448" y="4210050"/>
            <a:ext cx="85725" cy="85725"/>
          </a:xfrm>
          <a:prstGeom xmlns:a="http://schemas.openxmlformats.org/drawingml/2006/main" prst="rect">
            <a:avLst/>
          </a:prstGeom>
          <a:solidFill xmlns:a="http://schemas.openxmlformats.org/drawingml/2006/main">
            <a:srgbClr val="0066B1"/>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A714D93B-DD31-47AA-886E-9A9E298F2848}"/>
              </a:ext>
            </a:extLst>
          </p:cNvPr>
          <p:cNvSpPr>
            <a:spLocks xmlns:a="http://schemas.openxmlformats.org/drawingml/2006/main" noGrp="1"/>
          </p:cNvSpPr>
          <p:nvPr/>
        </p:nvSpPr>
        <p:spPr>
          <a:xfrm xmlns:a="http://schemas.openxmlformats.org/drawingml/2006/main">
            <a:off x="6880098" y="4133850"/>
            <a:ext cx="2190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200" b="0">
                <a:solidFill>
                  <a:srgbClr val="111111"/>
                </a:solidFill>
              </a:defRPr>
            </a:pPr>
            <a:r>
              <a:rPr sz="1200" b="0">
                <a:solidFill>
                  <a:srgbClr val="111111"/>
                </a:solidFill>
              </a:rPr>
              <a:t>材料加工：洛阳铜加工（河南）、中铜华中铜业（湖北）、中铜上海铜业</a:t>
            </a:r>
          </a:p>
        </p:txBody>
      </p:sp>
    </p:spTree>
    <p:extLst>
      <p:ext uri="{BB962C8B-B14F-4D97-AF65-F5344CB8AC3E}">
        <p14:creationId xmlns:p14="http://schemas.microsoft.com/office/powerpoint/2010/main" val="1670105418"/>
      </p:ext>
    </p:extLst>
  </p:cSld>
</p:sld>
</file>

<file path=ppt/slides/slide6.xml><?xml version="1.0" encoding="utf-8"?>
<p:sld xmlns:p="http://schemas.openxmlformats.org/presentationml/2006/main">
  <p:cSld>
    <p:bg>
      <p:bgPr>
        <a:solidFill xmlns:a="http://schemas.openxmlformats.org/drawingml/2006/main">
          <a:srgbClr val="D8D8D8"/>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FDE01AA3-9AFA-40CF-8B27-03F2EED973BC}"/>
              </a:ext>
            </a:extLst>
          </p:cNvPr>
          <p:cNvSpPr>
            <a:spLocks xmlns:a="http://schemas.openxmlformats.org/drawingml/2006/main" noGrp="1"/>
          </p:cNvSpPr>
          <p:nvPr/>
        </p:nvSpPr>
        <p:spPr>
          <a:xfrm xmlns:a="http://schemas.openxmlformats.org/drawingml/2006/main">
            <a:off x="666750" y="400050"/>
            <a:ext cx="10382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2400" b="1">
                <a:solidFill>
                  <a:srgbClr val="111111"/>
                </a:solidFill>
              </a:defRPr>
            </a:pPr>
            <a:r>
              <a:rPr sz="2400" b="1">
                <a:solidFill>
                  <a:srgbClr val="111111"/>
                </a:solidFill>
              </a:rPr>
              <a:t>普朗铜矿、凉山矿业等国内矿山群与秘鲁特罗莫克铜矿</a:t>
            </a:r>
          </a:p>
        </p:txBody>
      </p:sp>
      <p:sp>
        <p:nvSpPr>
          <p:cNvPr id="2" name="">
            <a:extLst xmlns:a="http://schemas.openxmlformats.org/drawingml/2006/main">
              <a:ext uri="{FF2B5EF4-FFF2-40B4-BE49-F238E27FC236}">
                <a16:creationId xmlns:a16="http://schemas.microsoft.com/office/drawing/2014/main" id="{C8D9DD35-F507-4016-9B97-B1E4B25F82D8}"/>
              </a:ext>
            </a:extLst>
          </p:cNvPr>
          <p:cNvSpPr>
            <a:spLocks xmlns:a="http://schemas.openxmlformats.org/drawingml/2006/main" noGrp="1"/>
          </p:cNvSpPr>
          <p:nvPr/>
        </p:nvSpPr>
        <p:spPr>
          <a:xfrm xmlns:a="http://schemas.openxmlformats.org/drawingml/2006/main">
            <a:off x="3316224" y="1571625"/>
            <a:ext cx="3121152" cy="2857500"/>
          </a:xfrm>
          <a:prstGeom xmlns:a="http://schemas.openxmlformats.org/drawingml/2006/main" prst="roundRect">
            <a:avLst>
              <a:gd name="adj" fmla="val 2667"/>
            </a:avLst>
          </a:prstGeom>
          <a:solidFill xmlns:a="http://schemas.openxmlformats.org/drawingml/2006/main">
            <a:srgbClr val="EEEEEE"/>
          </a:solidFill>
          <a:ln xmlns:a="http://schemas.openxmlformats.org/drawingml/2006/main" w="9525">
            <a:solidFill>
              <a:srgbClr val="0066B1"/>
            </a:solidFill>
          </a:ln>
        </p:spPr>
      </p:sp>
      <p:sp>
        <p:nvSpPr>
          <p:cNvPr id="3" name="">
            <a:extLst xmlns:a="http://schemas.openxmlformats.org/drawingml/2006/main">
              <a:ext uri="{FF2B5EF4-FFF2-40B4-BE49-F238E27FC236}">
                <a16:creationId xmlns:a16="http://schemas.microsoft.com/office/drawing/2014/main" id="{412B34AA-855B-48CD-B0CD-EB2F4F1AE6B5}"/>
              </a:ext>
            </a:extLst>
          </p:cNvPr>
          <p:cNvSpPr>
            <a:spLocks xmlns:a="http://schemas.openxmlformats.org/drawingml/2006/main" noGrp="1"/>
          </p:cNvSpPr>
          <p:nvPr/>
        </p:nvSpPr>
        <p:spPr>
          <a:xfrm xmlns:a="http://schemas.openxmlformats.org/drawingml/2006/main">
            <a:off x="3706368" y="2143125"/>
            <a:ext cx="2340864"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650" b="1">
                <a:solidFill>
                  <a:srgbClr val="111111"/>
                </a:solidFill>
              </a:defRPr>
            </a:pPr>
            <a:r>
              <a:rPr sz="1650" b="1">
                <a:solidFill>
                  <a:srgbClr val="111111"/>
                </a:solidFill>
              </a:rPr>
              <a:t>中国铜业矿产资源布局呈现"国内多矿山+海外单主力"的双基地格局。截至2025年底，…</a:t>
            </a:r>
          </a:p>
        </p:txBody>
      </p:sp>
      <p:sp>
        <p:nvSpPr>
          <p:cNvPr id="4" name="">
            <a:extLst xmlns:a="http://schemas.openxmlformats.org/drawingml/2006/main">
              <a:ext uri="{FF2B5EF4-FFF2-40B4-BE49-F238E27FC236}">
                <a16:creationId xmlns:a16="http://schemas.microsoft.com/office/drawing/2014/main" id="{25E594DD-28B7-4340-9506-E3A44CB94A69}"/>
              </a:ext>
            </a:extLst>
          </p:cNvPr>
          <p:cNvSpPr>
            <a:spLocks xmlns:a="http://schemas.openxmlformats.org/drawingml/2006/main" noGrp="1"/>
          </p:cNvSpPr>
          <p:nvPr/>
        </p:nvSpPr>
        <p:spPr>
          <a:xfrm xmlns:a="http://schemas.openxmlformats.org/drawingml/2006/main">
            <a:off x="619125" y="1476375"/>
            <a:ext cx="24384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275" b="1">
                <a:solidFill>
                  <a:srgbClr val="111111"/>
                </a:solidFill>
              </a:defRPr>
            </a:pPr>
            <a:r>
              <a:rPr sz="1275" b="1">
                <a:solidFill>
                  <a:srgbClr val="111111"/>
                </a:solidFill>
              </a:rPr>
              <a:t>| 矿山名称 | 权益比例 | 铜金属量（万吨） | 2024年产量（万吨） | 平均品位 |</a:t>
            </a:r>
          </a:p>
        </p:txBody>
      </p:sp>
      <p:sp>
        <p:nvSpPr>
          <p:cNvPr id="5" name="">
            <a:extLst xmlns:a="http://schemas.openxmlformats.org/drawingml/2006/main">
              <a:ext uri="{FF2B5EF4-FFF2-40B4-BE49-F238E27FC236}">
                <a16:creationId xmlns:a16="http://schemas.microsoft.com/office/drawing/2014/main" id="{255B8133-9E14-4244-9C70-14B0EF133B22}"/>
              </a:ext>
            </a:extLst>
          </p:cNvPr>
          <p:cNvSpPr>
            <a:spLocks xmlns:a="http://schemas.openxmlformats.org/drawingml/2006/main" noGrp="1"/>
          </p:cNvSpPr>
          <p:nvPr/>
        </p:nvSpPr>
        <p:spPr>
          <a:xfrm xmlns:a="http://schemas.openxmlformats.org/drawingml/2006/main">
            <a:off x="2828544" y="2162175"/>
            <a:ext cx="487680" cy="28575"/>
          </a:xfrm>
          <a:prstGeom xmlns:a="http://schemas.openxmlformats.org/drawingml/2006/main" prst="rect">
            <a:avLst/>
          </a:prstGeom>
          <a:solidFill xmlns:a="http://schemas.openxmlformats.org/drawingml/2006/main">
            <a:srgbClr val="0066B1"/>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B9DED013-05CE-4A20-B3CC-5BF906568D5C}"/>
              </a:ext>
            </a:extLst>
          </p:cNvPr>
          <p:cNvSpPr>
            <a:spLocks xmlns:a="http://schemas.openxmlformats.org/drawingml/2006/main" noGrp="1"/>
          </p:cNvSpPr>
          <p:nvPr/>
        </p:nvSpPr>
        <p:spPr>
          <a:xfrm xmlns:a="http://schemas.openxmlformats.org/drawingml/2006/main">
            <a:off x="6827520" y="1476375"/>
            <a:ext cx="24384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275" b="0">
                <a:solidFill>
                  <a:srgbClr val="111111"/>
                </a:solidFill>
              </a:defRPr>
            </a:pPr>
            <a:r>
              <a:rPr sz="1275" b="0">
                <a:solidFill>
                  <a:srgbClr val="111111"/>
                </a:solidFill>
              </a:rPr>
              <a:t>| 普朗铜矿 | 88.24% | 289.93 | 3.64（2022年） | 0.33% |</a:t>
            </a:r>
          </a:p>
        </p:txBody>
      </p:sp>
      <p:sp>
        <p:nvSpPr>
          <p:cNvPr id="7" name="">
            <a:extLst xmlns:a="http://schemas.openxmlformats.org/drawingml/2006/main">
              <a:ext uri="{FF2B5EF4-FFF2-40B4-BE49-F238E27FC236}">
                <a16:creationId xmlns:a16="http://schemas.microsoft.com/office/drawing/2014/main" id="{A2D9B9B0-2B31-4B25-BAFF-8978A120FA75}"/>
              </a:ext>
            </a:extLst>
          </p:cNvPr>
          <p:cNvSpPr>
            <a:spLocks xmlns:a="http://schemas.openxmlformats.org/drawingml/2006/main" noGrp="1"/>
          </p:cNvSpPr>
          <p:nvPr/>
        </p:nvSpPr>
        <p:spPr>
          <a:xfrm xmlns:a="http://schemas.openxmlformats.org/drawingml/2006/main">
            <a:off x="6437376" y="2162175"/>
            <a:ext cx="487680" cy="28575"/>
          </a:xfrm>
          <a:prstGeom xmlns:a="http://schemas.openxmlformats.org/drawingml/2006/main" prst="rect">
            <a:avLst/>
          </a:prstGeom>
          <a:solidFill xmlns:a="http://schemas.openxmlformats.org/drawingml/2006/main">
            <a:srgbClr val="0066B1"/>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39F7A531-51AB-4EC1-820F-D3A2F760771F}"/>
              </a:ext>
            </a:extLst>
          </p:cNvPr>
          <p:cNvSpPr>
            <a:spLocks xmlns:a="http://schemas.openxmlformats.org/drawingml/2006/main" noGrp="1"/>
          </p:cNvSpPr>
          <p:nvPr/>
        </p:nvSpPr>
        <p:spPr>
          <a:xfrm xmlns:a="http://schemas.openxmlformats.org/drawingml/2006/main">
            <a:off x="619125" y="3429000"/>
            <a:ext cx="24384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275" b="0">
                <a:solidFill>
                  <a:srgbClr val="111111"/>
                </a:solidFill>
              </a:defRPr>
            </a:pPr>
            <a:r>
              <a:rPr sz="1275" b="0">
                <a:solidFill>
                  <a:srgbClr val="111111"/>
                </a:solidFill>
              </a:rPr>
              <a:t>| 凉山矿业 | 60%（收购后） | 77.09 | — | 1.17% |</a:t>
            </a:r>
          </a:p>
        </p:txBody>
      </p:sp>
      <p:sp>
        <p:nvSpPr>
          <p:cNvPr id="9" name="">
            <a:extLst xmlns:a="http://schemas.openxmlformats.org/drawingml/2006/main">
              <a:ext uri="{FF2B5EF4-FFF2-40B4-BE49-F238E27FC236}">
                <a16:creationId xmlns:a16="http://schemas.microsoft.com/office/drawing/2014/main" id="{E811ACE6-C5C2-4E3C-8498-2D6066836CBD}"/>
              </a:ext>
            </a:extLst>
          </p:cNvPr>
          <p:cNvSpPr>
            <a:spLocks xmlns:a="http://schemas.openxmlformats.org/drawingml/2006/main" noGrp="1"/>
          </p:cNvSpPr>
          <p:nvPr/>
        </p:nvSpPr>
        <p:spPr>
          <a:xfrm xmlns:a="http://schemas.openxmlformats.org/drawingml/2006/main">
            <a:off x="2828544" y="4114800"/>
            <a:ext cx="487680" cy="28575"/>
          </a:xfrm>
          <a:prstGeom xmlns:a="http://schemas.openxmlformats.org/drawingml/2006/main" prst="rect">
            <a:avLst/>
          </a:prstGeom>
          <a:solidFill xmlns:a="http://schemas.openxmlformats.org/drawingml/2006/main">
            <a:srgbClr val="0066B1"/>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4CAD0361-9C28-418D-B229-2DFCEA961CA7}"/>
              </a:ext>
            </a:extLst>
          </p:cNvPr>
          <p:cNvSpPr>
            <a:spLocks xmlns:a="http://schemas.openxmlformats.org/drawingml/2006/main" noGrp="1"/>
          </p:cNvSpPr>
          <p:nvPr/>
        </p:nvSpPr>
        <p:spPr>
          <a:xfrm xmlns:a="http://schemas.openxmlformats.org/drawingml/2006/main">
            <a:off x="6827520" y="3429000"/>
            <a:ext cx="24384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275" b="0">
                <a:solidFill>
                  <a:srgbClr val="111111"/>
                </a:solidFill>
              </a:defRPr>
            </a:pPr>
            <a:r>
              <a:rPr sz="1275" b="0">
                <a:solidFill>
                  <a:srgbClr val="111111"/>
                </a:solidFill>
              </a:rPr>
              <a:t>| 玉溪矿业 | 未披露 | — | — | — |</a:t>
            </a:r>
          </a:p>
        </p:txBody>
      </p:sp>
      <p:sp>
        <p:nvSpPr>
          <p:cNvPr id="11" name="">
            <a:extLst xmlns:a="http://schemas.openxmlformats.org/drawingml/2006/main">
              <a:ext uri="{FF2B5EF4-FFF2-40B4-BE49-F238E27FC236}">
                <a16:creationId xmlns:a16="http://schemas.microsoft.com/office/drawing/2014/main" id="{13170404-0478-42EE-8CCD-EB4D9DF41CB4}"/>
              </a:ext>
            </a:extLst>
          </p:cNvPr>
          <p:cNvSpPr>
            <a:spLocks xmlns:a="http://schemas.openxmlformats.org/drawingml/2006/main" noGrp="1"/>
          </p:cNvSpPr>
          <p:nvPr/>
        </p:nvSpPr>
        <p:spPr>
          <a:xfrm xmlns:a="http://schemas.openxmlformats.org/drawingml/2006/main">
            <a:off x="6437376" y="4114800"/>
            <a:ext cx="487680" cy="28575"/>
          </a:xfrm>
          <a:prstGeom xmlns:a="http://schemas.openxmlformats.org/drawingml/2006/main" prst="rect">
            <a:avLst/>
          </a:prstGeom>
          <a:solidFill xmlns:a="http://schemas.openxmlformats.org/drawingml/2006/main">
            <a:srgbClr val="0066B1"/>
          </a:solidFill>
          <a:ln xmlns:a="http://schemas.openxmlformats.org/drawingml/2006/main" w="0">
            <a:noFill/>
          </a:ln>
        </p:spPr>
      </p:sp>
    </p:spTree>
    <p:extLst>
      <p:ext uri="{BB962C8B-B14F-4D97-AF65-F5344CB8AC3E}">
        <p14:creationId xmlns:p14="http://schemas.microsoft.com/office/powerpoint/2010/main" val="552885913"/>
      </p:ext>
    </p:extLst>
  </p:cSld>
</p:sld>
</file>

<file path=ppt/slides/slide7.xml><?xml version="1.0" encoding="utf-8"?>
<p:sld xmlns:p="http://schemas.openxmlformats.org/presentationml/2006/main">
  <p:cSld>
    <p:bg>
      <p:bgPr>
        <a:solidFill xmlns:a="http://schemas.openxmlformats.org/drawingml/2006/main">
          <a:srgbClr val="D8D8D8"/>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486385EA-3497-4940-B4EB-2F6B71134C63}"/>
              </a:ext>
            </a:extLst>
          </p:cNvPr>
          <p:cNvSpPr>
            <a:spLocks xmlns:a="http://schemas.openxmlformats.org/drawingml/2006/main" noGrp="1"/>
          </p:cNvSpPr>
          <p:nvPr/>
        </p:nvSpPr>
        <p:spPr>
          <a:xfrm xmlns:a="http://schemas.openxmlformats.org/drawingml/2006/main">
            <a:off x="666750" y="400050"/>
            <a:ext cx="10382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2400" b="1">
                <a:solidFill>
                  <a:srgbClr val="111111"/>
                </a:solidFill>
              </a:defRPr>
            </a:pPr>
            <a:r>
              <a:rPr sz="2400" b="1">
                <a:solidFill>
                  <a:srgbClr val="111111"/>
                </a:solidFill>
              </a:rPr>
              <a:t>后续关注事项</a:t>
            </a:r>
          </a:p>
        </p:txBody>
      </p:sp>
      <p:sp>
        <p:nvSpPr>
          <p:cNvPr id="2" name="">
            <a:extLst xmlns:a="http://schemas.openxmlformats.org/drawingml/2006/main">
              <a:ext uri="{FF2B5EF4-FFF2-40B4-BE49-F238E27FC236}">
                <a16:creationId xmlns:a16="http://schemas.microsoft.com/office/drawing/2014/main" id="{8D3FEE0D-D343-4F86-A1C2-7A3170AB4A87}"/>
              </a:ext>
            </a:extLst>
          </p:cNvPr>
          <p:cNvSpPr>
            <a:spLocks xmlns:a="http://schemas.openxmlformats.org/drawingml/2006/main" noGrp="1"/>
          </p:cNvSpPr>
          <p:nvPr/>
        </p:nvSpPr>
        <p:spPr>
          <a:xfrm xmlns:a="http://schemas.openxmlformats.org/drawingml/2006/main">
            <a:off x="666750" y="1381125"/>
            <a:ext cx="3706368" cy="3905250"/>
          </a:xfrm>
          <a:prstGeom xmlns:a="http://schemas.openxmlformats.org/drawingml/2006/main" prst="roundRect">
            <a:avLst>
              <a:gd name="adj" fmla="val 2056"/>
            </a:avLst>
          </a:prstGeom>
          <a:solidFill xmlns:a="http://schemas.openxmlformats.org/drawingml/2006/main">
            <a:srgbClr val="6D6D6D"/>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5B388058-33C3-4F26-9779-4F7F21448D26}"/>
              </a:ext>
            </a:extLst>
          </p:cNvPr>
          <p:cNvSpPr>
            <a:spLocks xmlns:a="http://schemas.openxmlformats.org/drawingml/2006/main" noGrp="1"/>
          </p:cNvSpPr>
          <p:nvPr/>
        </p:nvSpPr>
        <p:spPr>
          <a:xfrm xmlns:a="http://schemas.openxmlformats.org/drawingml/2006/main">
            <a:off x="952500" y="1666875"/>
            <a:ext cx="3121152"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725" b="1">
                <a:solidFill>
                  <a:srgbClr val="FFFFFF"/>
                </a:solidFill>
              </a:defRPr>
            </a:pPr>
            <a:r>
              <a:rPr sz="1725" b="1">
                <a:solidFill>
                  <a:srgbClr val="FFFFFF"/>
                </a:solidFill>
              </a:rPr>
              <a:t>铜精矿自给率仅 25% 是核心绑定约束，在 TC 跌至 -125 美元/干吨的极端环境下冶炼端承压，但综合回收能力（"矿物厨房"）提供关键缓冲。 2023 年公司净利润…</a:t>
            </a:r>
          </a:p>
        </p:txBody>
      </p:sp>
    </p:spTree>
    <p:extLst>
      <p:ext uri="{BB962C8B-B14F-4D97-AF65-F5344CB8AC3E}">
        <p14:creationId xmlns:p14="http://schemas.microsoft.com/office/powerpoint/2010/main" val="1828658526"/>
      </p:ext>
    </p:extLst>
  </p:cSld>
</p:sld>
</file>

<file path=ppt/slides/slide8.xml><?xml version="1.0" encoding="utf-8"?>
<p:sld xmlns:p="http://schemas.openxmlformats.org/presentationml/2006/main">
  <p:cSld>
    <p:bg>
      <p:bgPr>
        <a:solidFill xmlns:a="http://schemas.openxmlformats.org/drawingml/2006/main">
          <a:srgbClr val="6D6D6D"/>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3BD7EEE1-7E9B-4C48-B5E7-E1B67D179811}"/>
              </a:ext>
            </a:extLst>
          </p:cNvPr>
          <p:cNvSpPr>
            <a:spLocks xmlns:a="http://schemas.openxmlformats.org/drawingml/2006/main" noGrp="1"/>
          </p:cNvSpPr>
          <p:nvPr/>
        </p:nvSpPr>
        <p:spPr>
          <a:xfrm xmlns:a="http://schemas.openxmlformats.org/drawingml/2006/main">
            <a:off x="666750" y="952500"/>
            <a:ext cx="1619250" cy="76200"/>
          </a:xfrm>
          <a:prstGeom xmlns:a="http://schemas.openxmlformats.org/drawingml/2006/main" prst="rect">
            <a:avLst/>
          </a:prstGeom>
          <a:solidFill xmlns:a="http://schemas.openxmlformats.org/drawingml/2006/main">
            <a:srgbClr val="0066B1"/>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0EF6607-4561-4D92-A6B0-5E6D6593891C}"/>
              </a:ext>
            </a:extLst>
          </p:cNvPr>
          <p:cNvSpPr>
            <a:spLocks xmlns:a="http://schemas.openxmlformats.org/drawingml/2006/main" noGrp="1"/>
          </p:cNvSpPr>
          <p:nvPr/>
        </p:nvSpPr>
        <p:spPr>
          <a:xfrm xmlns:a="http://schemas.openxmlformats.org/drawingml/2006/main">
            <a:off x="666750" y="1238250"/>
            <a:ext cx="666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3000" b="1">
                <a:solidFill>
                  <a:srgbClr val="FFFFFF"/>
                </a:solidFill>
              </a:defRPr>
            </a:pPr>
            <a:r>
              <a:rPr sz="3000" b="1">
                <a:solidFill>
                  <a:srgbClr val="FFFFFF"/>
                </a:solidFill>
              </a:rPr>
              <a:t>结论与下一步</a:t>
            </a:r>
          </a:p>
        </p:txBody>
      </p:sp>
      <p:sp>
        <p:nvSpPr>
          <p:cNvPr id="3" name="">
            <a:extLst xmlns:a="http://schemas.openxmlformats.org/drawingml/2006/main">
              <a:ext uri="{FF2B5EF4-FFF2-40B4-BE49-F238E27FC236}">
                <a16:creationId xmlns:a16="http://schemas.microsoft.com/office/drawing/2014/main" id="{25D69204-350C-4BFB-B4BC-C75971D96F8E}"/>
              </a:ext>
            </a:extLst>
          </p:cNvPr>
          <p:cNvSpPr>
            <a:spLocks xmlns:a="http://schemas.openxmlformats.org/drawingml/2006/main" noGrp="1"/>
          </p:cNvSpPr>
          <p:nvPr/>
        </p:nvSpPr>
        <p:spPr>
          <a:xfrm xmlns:a="http://schemas.openxmlformats.org/drawingml/2006/main">
            <a:off x="762000" y="2667000"/>
            <a:ext cx="571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725" b="1">
                <a:solidFill>
                  <a:srgbClr val="0066B1"/>
                </a:solidFill>
              </a:defRPr>
            </a:pPr>
            <a:r>
              <a:rPr sz="1725" b="1">
                <a:solidFill>
                  <a:srgbClr val="0066B1"/>
                </a:solidFill>
              </a:rPr>
              <a:t>01</a:t>
            </a:r>
          </a:p>
        </p:txBody>
      </p:sp>
      <p:sp>
        <p:nvSpPr>
          <p:cNvPr id="4" name="">
            <a:extLst xmlns:a="http://schemas.openxmlformats.org/drawingml/2006/main">
              <a:ext uri="{FF2B5EF4-FFF2-40B4-BE49-F238E27FC236}">
                <a16:creationId xmlns:a16="http://schemas.microsoft.com/office/drawing/2014/main" id="{B79D3F71-3350-4B40-975D-A2844C9D87D5}"/>
              </a:ext>
            </a:extLst>
          </p:cNvPr>
          <p:cNvSpPr>
            <a:spLocks xmlns:a="http://schemas.openxmlformats.org/drawingml/2006/main" noGrp="1"/>
          </p:cNvSpPr>
          <p:nvPr/>
        </p:nvSpPr>
        <p:spPr>
          <a:xfrm xmlns:a="http://schemas.openxmlformats.org/drawingml/2006/main">
            <a:off x="762000" y="3238500"/>
            <a:ext cx="239395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425" b="1">
                <a:solidFill>
                  <a:srgbClr val="FFFFFF"/>
                </a:solidFill>
              </a:defRPr>
            </a:pPr>
            <a:r>
              <a:rPr sz="1425" b="1">
                <a:solidFill>
                  <a:srgbClr val="FFFFFF"/>
                </a:solidFill>
              </a:rPr>
              <a:t>截至2024年末，中国铜业在册员工28,380人，下属实体企业60余户，产业覆盖境内17个省（自治区、直辖市）和境外6个国…</a:t>
            </a:r>
          </a:p>
        </p:txBody>
      </p:sp>
      <p:sp>
        <p:nvSpPr>
          <p:cNvPr id="5" name="">
            <a:extLst xmlns:a="http://schemas.openxmlformats.org/drawingml/2006/main">
              <a:ext uri="{FF2B5EF4-FFF2-40B4-BE49-F238E27FC236}">
                <a16:creationId xmlns:a16="http://schemas.microsoft.com/office/drawing/2014/main" id="{64362B26-3007-4864-A3E9-986916F6744C}"/>
              </a:ext>
            </a:extLst>
          </p:cNvPr>
          <p:cNvSpPr>
            <a:spLocks xmlns:a="http://schemas.openxmlformats.org/drawingml/2006/main" noGrp="1"/>
          </p:cNvSpPr>
          <p:nvPr/>
        </p:nvSpPr>
        <p:spPr>
          <a:xfrm xmlns:a="http://schemas.openxmlformats.org/drawingml/2006/main">
            <a:off x="3378200" y="2667000"/>
            <a:ext cx="571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725" b="1">
                <a:solidFill>
                  <a:srgbClr val="0066B1"/>
                </a:solidFill>
              </a:defRPr>
            </a:pPr>
            <a:r>
              <a:rPr sz="1725" b="1">
                <a:solidFill>
                  <a:srgbClr val="0066B1"/>
                </a:solidFill>
              </a:rPr>
              <a:t>02</a:t>
            </a:r>
          </a:p>
        </p:txBody>
      </p:sp>
      <p:sp>
        <p:nvSpPr>
          <p:cNvPr id="6" name="">
            <a:extLst xmlns:a="http://schemas.openxmlformats.org/drawingml/2006/main">
              <a:ext uri="{FF2B5EF4-FFF2-40B4-BE49-F238E27FC236}">
                <a16:creationId xmlns:a16="http://schemas.microsoft.com/office/drawing/2014/main" id="{417DC6A8-FD0B-4BE1-AD84-8390981DF744}"/>
              </a:ext>
            </a:extLst>
          </p:cNvPr>
          <p:cNvSpPr>
            <a:spLocks xmlns:a="http://schemas.openxmlformats.org/drawingml/2006/main" noGrp="1"/>
          </p:cNvSpPr>
          <p:nvPr/>
        </p:nvSpPr>
        <p:spPr>
          <a:xfrm xmlns:a="http://schemas.openxmlformats.org/drawingml/2006/main">
            <a:off x="3378200" y="3238500"/>
            <a:ext cx="239395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425" b="0">
                <a:solidFill>
                  <a:srgbClr val="FFFFFF"/>
                </a:solidFill>
              </a:defRPr>
            </a:pPr>
            <a:r>
              <a:rPr sz="1425" b="0">
                <a:solidFill>
                  <a:srgbClr val="FFFFFF"/>
                </a:solidFill>
              </a:rPr>
              <a:t>中国铜业矿产资源布局呈现"国内多矿山+海外单主力"的双基地格局。截至2025年底，云南铜业层面保有铜资源矿石量10.49亿…</a:t>
            </a:r>
          </a:p>
        </p:txBody>
      </p:sp>
      <p:sp>
        <p:nvSpPr>
          <p:cNvPr id="7" name="">
            <a:extLst xmlns:a="http://schemas.openxmlformats.org/drawingml/2006/main">
              <a:ext uri="{FF2B5EF4-FFF2-40B4-BE49-F238E27FC236}">
                <a16:creationId xmlns:a16="http://schemas.microsoft.com/office/drawing/2014/main" id="{8DDCDE3E-8410-4CFA-A4C4-EC78A6176AC8}"/>
              </a:ext>
            </a:extLst>
          </p:cNvPr>
          <p:cNvSpPr>
            <a:spLocks xmlns:a="http://schemas.openxmlformats.org/drawingml/2006/main" noGrp="1"/>
          </p:cNvSpPr>
          <p:nvPr/>
        </p:nvSpPr>
        <p:spPr>
          <a:xfrm xmlns:a="http://schemas.openxmlformats.org/drawingml/2006/main">
            <a:off x="5994400" y="2667000"/>
            <a:ext cx="571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725" b="1">
                <a:solidFill>
                  <a:srgbClr val="0066B1"/>
                </a:solidFill>
              </a:defRPr>
            </a:pPr>
            <a:r>
              <a:rPr sz="1725" b="1">
                <a:solidFill>
                  <a:srgbClr val="0066B1"/>
                </a:solidFill>
              </a:rPr>
              <a:t>03</a:t>
            </a:r>
          </a:p>
        </p:txBody>
      </p:sp>
      <p:sp>
        <p:nvSpPr>
          <p:cNvPr id="8" name="">
            <a:extLst xmlns:a="http://schemas.openxmlformats.org/drawingml/2006/main">
              <a:ext uri="{FF2B5EF4-FFF2-40B4-BE49-F238E27FC236}">
                <a16:creationId xmlns:a16="http://schemas.microsoft.com/office/drawing/2014/main" id="{9674CC17-0DAB-4FFD-BB0E-52CF27643658}"/>
              </a:ext>
            </a:extLst>
          </p:cNvPr>
          <p:cNvSpPr>
            <a:spLocks xmlns:a="http://schemas.openxmlformats.org/drawingml/2006/main" noGrp="1"/>
          </p:cNvSpPr>
          <p:nvPr/>
        </p:nvSpPr>
        <p:spPr>
          <a:xfrm xmlns:a="http://schemas.openxmlformats.org/drawingml/2006/main">
            <a:off x="5994400" y="3238500"/>
            <a:ext cx="239395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425" b="0">
                <a:solidFill>
                  <a:srgbClr val="FFFFFF"/>
                </a:solidFill>
              </a:defRPr>
            </a:pPr>
            <a:r>
              <a:rPr sz="1425" b="0">
                <a:solidFill>
                  <a:srgbClr val="FFFFFF"/>
                </a:solidFill>
              </a:rPr>
              <a:t>铜精矿自给率仅 25% 是核心绑定约束，在 TC 跌至 -125 美元/干吨的极端环境下冶炼端承压，但综合回收能力（"矿物…</a:t>
            </a:r>
          </a:p>
        </p:txBody>
      </p:sp>
      <p:sp>
        <p:nvSpPr>
          <p:cNvPr id="9" name="">
            <a:extLst xmlns:a="http://schemas.openxmlformats.org/drawingml/2006/main">
              <a:ext uri="{FF2B5EF4-FFF2-40B4-BE49-F238E27FC236}">
                <a16:creationId xmlns:a16="http://schemas.microsoft.com/office/drawing/2014/main" id="{3B374D0A-70E0-4C5A-A66A-94AF6E89A3CD}"/>
              </a:ext>
            </a:extLst>
          </p:cNvPr>
          <p:cNvSpPr>
            <a:spLocks xmlns:a="http://schemas.openxmlformats.org/drawingml/2006/main" noGrp="1"/>
          </p:cNvSpPr>
          <p:nvPr/>
        </p:nvSpPr>
        <p:spPr>
          <a:xfrm xmlns:a="http://schemas.openxmlformats.org/drawingml/2006/main">
            <a:off x="666750" y="6696075"/>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050" b="1">
                <a:solidFill>
                  <a:srgbClr val="0066B1"/>
                </a:solidFill>
              </a:defRPr>
            </a:pPr>
            <a:r>
              <a:rPr sz="1050" b="1">
                <a:solidFill>
                  <a:srgbClr val="0066B1"/>
                </a:solidFill>
              </a:rPr>
              <a:t>BMW Engineering</a:t>
            </a:r>
          </a:p>
        </p:txBody>
      </p:sp>
    </p:spTree>
    <p:extLst>
      <p:ext uri="{BB962C8B-B14F-4D97-AF65-F5344CB8AC3E}">
        <p14:creationId xmlns:p14="http://schemas.microsoft.com/office/powerpoint/2010/main" val="36208222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2026-09-14T04:19:32.4060000Z</dcterms:created>
  <dcterms:modified xsi:type="dcterms:W3CDTF">2026-09-14T04:19:32.4060000Z</dcterms:modified>
</coreProperties>
</file>