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ffb088ef60466b" /><Relationship Type="http://schemas.openxmlformats.org/officeDocument/2006/relationships/extended-properties" Target="/docProps/app.xml" Id="Re255483832c34295" /><Relationship Type="http://schemas.openxmlformats.org/officeDocument/2006/relationships/officeDocument" Target="/ppt/presentation.xml" Id="R6a2c247f463a4b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cbc8b111c14090"/>
  </p:sldMasterIdLst>
  <p:notesMasterIdLst>
    <p:notesMasterId xmlns:r="http://schemas.openxmlformats.org/officeDocument/2006/relationships" r:id="Rf23e333b20a14fd6"/>
  </p:notesMasterIdLst>
  <p:sldIdLst>
    <p:sldId xmlns:r="http://schemas.openxmlformats.org/officeDocument/2006/relationships" id="256" r:id="R957c953eeed04794"/>
    <p:sldId xmlns:r="http://schemas.openxmlformats.org/officeDocument/2006/relationships" id="257" r:id="Red8e4d4530dd418f"/>
    <p:sldId xmlns:r="http://schemas.openxmlformats.org/officeDocument/2006/relationships" id="258" r:id="Rfe60677d60ee4f5a"/>
    <p:sldId xmlns:r="http://schemas.openxmlformats.org/officeDocument/2006/relationships" id="259" r:id="R89ccfa87abf84bf0"/>
    <p:sldId xmlns:r="http://schemas.openxmlformats.org/officeDocument/2006/relationships" id="260" r:id="R0d1d46cde40946e9"/>
    <p:sldId xmlns:r="http://schemas.openxmlformats.org/officeDocument/2006/relationships" id="261" r:id="R214281ae8cd345bd"/>
    <p:sldId xmlns:r="http://schemas.openxmlformats.org/officeDocument/2006/relationships" id="262" r:id="R2d4724add2564fd6"/>
    <p:sldId xmlns:r="http://schemas.openxmlformats.org/officeDocument/2006/relationships" id="263" r:id="R3b24ce421a2446c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db4210a9184392" /><Relationship Type="http://schemas.openxmlformats.org/officeDocument/2006/relationships/slideMaster" Target="/ppt/slideMasters/slideMaster1.xml" Id="Rb0cbc8b111c14090" /><Relationship Type="http://schemas.openxmlformats.org/officeDocument/2006/relationships/notesMaster" Target="/ppt/notesMasters/notesMaster1.xml" Id="Rf23e333b20a14fd6" /><Relationship Type="http://schemas.openxmlformats.org/officeDocument/2006/relationships/presProps" Target="/ppt/presProps.xml" Id="R2b7057e27e0b4bcf" /><Relationship Type="http://schemas.openxmlformats.org/officeDocument/2006/relationships/tableStyles" Target="/ppt/tableStyles.xml" Id="R617a592214d04f21" /><Relationship Type="http://schemas.openxmlformats.org/officeDocument/2006/relationships/slide" Target="/ppt/slides/slide1.xml" Id="R957c953eeed04794" /><Relationship Type="http://schemas.openxmlformats.org/officeDocument/2006/relationships/slide" Target="/ppt/slides/slide2.xml" Id="Red8e4d4530dd418f" /><Relationship Type="http://schemas.openxmlformats.org/officeDocument/2006/relationships/slide" Target="/ppt/slides/slide3.xml" Id="Rfe60677d60ee4f5a" /><Relationship Type="http://schemas.openxmlformats.org/officeDocument/2006/relationships/slide" Target="/ppt/slides/slide4.xml" Id="R89ccfa87abf84bf0" /><Relationship Type="http://schemas.openxmlformats.org/officeDocument/2006/relationships/slide" Target="/ppt/slides/slide5.xml" Id="R0d1d46cde40946e9" /><Relationship Type="http://schemas.openxmlformats.org/officeDocument/2006/relationships/slide" Target="/ppt/slides/slide6.xml" Id="R214281ae8cd345bd" /><Relationship Type="http://schemas.openxmlformats.org/officeDocument/2006/relationships/slide" Target="/ppt/slides/slide7.xml" Id="R2d4724add2564fd6" /><Relationship Type="http://schemas.openxmlformats.org/officeDocument/2006/relationships/slide" Target="/ppt/slides/slide8.xml" Id="R3b24ce421a2446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aa34db63864d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1662767b3e4f5f" /><Relationship Type="http://schemas.openxmlformats.org/officeDocument/2006/relationships/notesMaster" Target="/ppt/notesMasters/notesMaster1.xml" Id="R053866d18a8a45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4fe5db3cbb40c6" /><Relationship Type="http://schemas.openxmlformats.org/officeDocument/2006/relationships/notesMaster" Target="/ppt/notesMasters/notesMaster1.xml" Id="Rad079ed0ba2c4a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a8716affea41c4" /><Relationship Type="http://schemas.openxmlformats.org/officeDocument/2006/relationships/notesMaster" Target="/ppt/notesMasters/notesMaster1.xml" Id="R491b3c187cea44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7bd8bfc1294f7d" /><Relationship Type="http://schemas.openxmlformats.org/officeDocument/2006/relationships/notesMaster" Target="/ppt/notesMasters/notesMaster1.xml" Id="R25906fec3f4f44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66df8614b44e5c" /><Relationship Type="http://schemas.openxmlformats.org/officeDocument/2006/relationships/notesMaster" Target="/ppt/notesMasters/notesMaster1.xml" Id="R7f5624bad70d4fc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b8b12949444d1d" /><Relationship Type="http://schemas.openxmlformats.org/officeDocument/2006/relationships/notesMaster" Target="/ppt/notesMasters/notesMaster1.xml" Id="R86b27d1598fb44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f2ba042b0ff4a9d" /><Relationship Type="http://schemas.openxmlformats.org/officeDocument/2006/relationships/notesMaster" Target="/ppt/notesMasters/notesMaster1.xml" Id="R7b711186c4e84e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ab9cb8dc704944" /><Relationship Type="http://schemas.openxmlformats.org/officeDocument/2006/relationships/notesMaster" Target="/ppt/notesMasters/notesMaster1.xml" Id="R25f01512285944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 run.txt 研究内容</a:t>
            </a:r>
          </a:p>
          <a:p xmlns:a="http://schemas.openxmlformats.org/drawingml/2006/main">
            <a:r>
              <a:t>- 对应编号的本地 PDF/PPTX 仅作视觉模板参考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 run.txt 研究内容</a:t>
            </a:r>
          </a:p>
          <a:p xmlns:a="http://schemas.openxmlformats.org/drawingml/2006/main">
            <a:r>
              <a:t>- 对应编号的本地 PDF/PPTX 仅作视觉模板参考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 run.txt 研究内容</a:t>
            </a:r>
          </a:p>
          <a:p xmlns:a="http://schemas.openxmlformats.org/drawingml/2006/main">
            <a:r>
              <a:t>- 对应编号的本地 PDF/PPTX 仅作视觉模板参考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 run.txt 研究内容</a:t>
            </a:r>
          </a:p>
          <a:p xmlns:a="http://schemas.openxmlformats.org/drawingml/2006/main">
            <a:r>
              <a:t>- 对应编号的本地 PDF/PPTX 仅作视觉模板参考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 run.txt 研究内容</a:t>
            </a:r>
          </a:p>
          <a:p xmlns:a="http://schemas.openxmlformats.org/drawingml/2006/main">
            <a:r>
              <a:t>- 对应编号的本地 PDF/PPTX 仅作视觉模板参考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 run.txt 研究内容</a:t>
            </a:r>
          </a:p>
          <a:p xmlns:a="http://schemas.openxmlformats.org/drawingml/2006/main">
            <a:r>
              <a:t>- 对应编号的本地 PDF/PPTX 仅作视觉模板参考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 run.txt 研究内容</a:t>
            </a:r>
          </a:p>
          <a:p xmlns:a="http://schemas.openxmlformats.org/drawingml/2006/main">
            <a:r>
              <a:t>- 对应编号的本地 PDF/PPTX 仅作视觉模板参考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 run.txt 研究内容</a:t>
            </a:r>
          </a:p>
          <a:p xmlns:a="http://schemas.openxmlformats.org/drawingml/2006/main">
            <a:r>
              <a:t>- 对应编号的本地 PDF/PPTX 仅作视觉模板参考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c1eb6b8c0843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39b2147dad4f6e" /><Relationship Type="http://schemas.openxmlformats.org/officeDocument/2006/relationships/slideLayout" Target="/ppt/slideLayouts/slideLayout1.xml" Id="Rb8be9e0123bd40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be9e0123bd40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bfb0b7e8c74e0d" /><Relationship Type="http://schemas.openxmlformats.org/officeDocument/2006/relationships/notesSlide" Target="/ppt/notesSlides/notesSlide1.xml" Id="Rd001a01f7d044c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90040d732e4c04" /><Relationship Type="http://schemas.openxmlformats.org/officeDocument/2006/relationships/notesSlide" Target="/ppt/notesSlides/notesSlide2.xml" Id="Rba8eabe1e5fe40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73f8b6fe6d4e49" /><Relationship Type="http://schemas.openxmlformats.org/officeDocument/2006/relationships/notesSlide" Target="/ppt/notesSlides/notesSlide3.xml" Id="Rc16456a0bb3845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b47ce71a5b40e9" /><Relationship Type="http://schemas.openxmlformats.org/officeDocument/2006/relationships/notesSlide" Target="/ppt/notesSlides/notesSlide4.xml" Id="Ra4c111d7d32c4b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83917ee38f4bbd" /><Relationship Type="http://schemas.openxmlformats.org/officeDocument/2006/relationships/notesSlide" Target="/ppt/notesSlides/notesSlide5.xml" Id="R6edfa26637554f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0f0b2a4c8c43c4" /><Relationship Type="http://schemas.openxmlformats.org/officeDocument/2006/relationships/notesSlide" Target="/ppt/notesSlides/notesSlide6.xml" Id="Rac5adf190a1e47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b6fa4fb6a6450d" /><Relationship Type="http://schemas.openxmlformats.org/officeDocument/2006/relationships/notesSlide" Target="/ppt/notesSlides/notesSlide7.xml" Id="R4d5bf842c69e430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5a33152e7e433f" /><Relationship Type="http://schemas.openxmlformats.org/officeDocument/2006/relationships/notesSlide" Target="/ppt/notesSlides/notesSlide8.xml" Id="Rbaf83d6bc7ba47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021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B91101-C746-4140-A771-D2160A24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36448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7B1B0F-27C5-4721-BCC4-68EDC785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4480" y="0"/>
            <a:ext cx="682752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A85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CFC2C3-4297-497D-8F2B-C3F68151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877824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未来五年中国消费趋势的结构性变化——升级与降级并存的K型分化格局下，服务消费扩容、情绪消费与国货潮…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F79453-4B93-45C8-BF94-37DE4310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Google Cloud</a:t>
            </a:r>
          </a:p>
        </p:txBody>
      </p:sp>
    </p:spTree>
    <p:extLst>
      <p:ext uri="{BB962C8B-B14F-4D97-AF65-F5344CB8AC3E}">
        <p14:creationId xmlns:p14="http://schemas.microsoft.com/office/powerpoint/2010/main" val="21449083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A63CC0-C808-4A9D-9F80-4BA67ACCF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2124"/>
                </a:solidFill>
              </a:defRPr>
            </a:pPr>
            <a:r>
              <a:rPr sz="2400" b="1">
                <a:solidFill>
                  <a:srgbClr val="202124"/>
                </a:solidFill>
              </a:rPr>
              <a:t>核心观点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57262A-9153-4ABA-91BC-05849819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95375"/>
            <a:ext cx="1333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0E6ABA-F6B7-4FB5-AD1B-492C12AA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463296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124"/>
                </a:solidFill>
              </a:defRPr>
            </a:pPr>
            <a:r>
              <a:rPr sz="1800" b="1">
                <a:solidFill>
                  <a:srgbClr val="202124"/>
                </a:solidFill>
              </a:rPr>
              <a:t>未来五年中国消费市场将经历从"K 型分化深化"到"AI 驱动结构收敛"的周期性演变，2026-2027 年 K 型分化继续加深，但 2028 年后可能因 AI 普惠化而结构性…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809E9C-C1E6-49CA-8987-DD132EB6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81125"/>
            <a:ext cx="512064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BBC0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4F1556-09A6-4E32-A43A-611AE919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7430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743151-8EBA-451C-8C59-94EE4969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1330" y="1666875"/>
            <a:ext cx="389763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这一判断的核心支撑来自三重结构性力量：收入分化奠定 K 型格局的量化基础（高低收入比 10.36 倍），情绪需求爆发提供增长引擎（情绪经济 2.7 万…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761E57-3D97-43BF-85ED-7B10DA72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5241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972199-DFA8-4465-BAF9-BF57C6F3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1330" y="2447925"/>
            <a:ext cx="389763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本报告的研究对象涵盖三大核心机会及其协同效应：服务消费（餐饮、旅游、大健康、养老、教育）、情绪消费与国货潮品（美妆、潮玩、文创、服饰）、AI 新消费场…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71E31F-5063-4FEE-B3B5-8D4228B7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3051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7F8F8B-647E-4ABB-AAB9-F763AB43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1330" y="3228975"/>
            <a:ext cx="389763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</a:defRPr>
            </a:pPr>
            <a:r>
              <a:rPr sz="1350" b="0">
                <a:solidFill>
                  <a:srgbClr val="202124"/>
                </a:solidFill>
              </a:rPr>
              <a:t>对投资者与创业者的决策含义是：2026-2027 年优先布局 AI 消费基础设施相关赛道和抗周期的服务消费，2028-2029 年重点布局 AI 赋能…</a:t>
            </a:r>
          </a:p>
        </p:txBody>
      </p:sp>
    </p:spTree>
    <p:extLst>
      <p:ext uri="{BB962C8B-B14F-4D97-AF65-F5344CB8AC3E}">
        <p14:creationId xmlns:p14="http://schemas.microsoft.com/office/powerpoint/2010/main" val="19919548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960A72-AB31-4D39-9694-E2E3116A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2124"/>
                </a:solidFill>
              </a:defRPr>
            </a:pPr>
            <a:r>
              <a:rPr sz="2400" b="1">
                <a:solidFill>
                  <a:srgbClr val="202124"/>
                </a:solidFill>
              </a:rPr>
              <a:t>K 型分化的宏观量化证据：收入差距、消费分层与品类分化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7EADF4-6B05-4A6D-BCFD-DDF2511C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52673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285F4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42F548-E1DE-45D7-B210-014D0C0F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285F4"/>
                </a:solidFill>
              </a:defRPr>
            </a:pPr>
            <a:r>
              <a:rPr sz="1425" b="1">
                <a:solidFill>
                  <a:srgbClr val="4285F4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6A907A-0F40-412D-AABB-15258930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19300"/>
            <a:ext cx="48863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02124"/>
                </a:solidFill>
              </a:defRPr>
            </a:pPr>
            <a:r>
              <a:rPr sz="1425" b="1">
                <a:solidFill>
                  <a:srgbClr val="202124"/>
                </a:solidFill>
              </a:rPr>
              <a:t>中国消费市场正加速呈现"K 型分化"格局——高端品质消费与极致性价比消费两端强势崛起，中间地带持续塌陷。这一结构性分化的量化基础是收入分配…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51694A-6A2E-428F-88EA-B0C2EC2C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428750"/>
            <a:ext cx="52673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BBC04"/>
          </a:solidFill>
          <a:ln xmlns:a="http://schemas.openxmlformats.org/drawingml/2006/main" w="9525">
            <a:solidFill>
              <a:srgbClr val="4285F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58716C-EED1-4626-BC11-60FF65F2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6002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285F4"/>
                </a:solidFill>
              </a:defRPr>
            </a:pPr>
            <a:r>
              <a:rPr sz="1425" b="1">
                <a:solidFill>
                  <a:srgbClr val="4285F4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C0E7E9-E407-439E-B91A-248C96F3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019300"/>
            <a:ext cx="48863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124"/>
                </a:solidFill>
              </a:defRPr>
            </a:pPr>
            <a:r>
              <a:rPr sz="1425" b="0">
                <a:solidFill>
                  <a:srgbClr val="202124"/>
                </a:solidFill>
              </a:rPr>
              <a:t>收入差距高位趋稳构成 K 型分化的底层约束。 2024 年高收入组人均可支配收入为低收入组的 10.36 倍，较 2021 年的 10.3…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CAF86B-0D4F-447F-B7A5-9983674B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67100"/>
            <a:ext cx="52673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285F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1611E5-C08E-46A7-9F4E-2E78B1E9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285F4"/>
                </a:solidFill>
              </a:defRPr>
            </a:pPr>
            <a:r>
              <a:rPr sz="1425" b="1">
                <a:solidFill>
                  <a:srgbClr val="4285F4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E83F74-071C-419F-A0E9-E42103A1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57650"/>
            <a:ext cx="48863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124"/>
                </a:solidFill>
              </a:defRPr>
            </a:pPr>
            <a:r>
              <a:rPr sz="1425" b="0">
                <a:solidFill>
                  <a:srgbClr val="202124"/>
                </a:solidFill>
              </a:rPr>
              <a:t>消费理念从"一分钱一分货"向"该省省、该花花"的结构性转变。 消费者不再单纯追求实用价值或情绪价值的单极最大化，而是在不同品类内同时追求两…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6C1113-566C-46F3-8228-CA5D22EF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467100"/>
            <a:ext cx="52673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BBC04"/>
          </a:solidFill>
          <a:ln xmlns:a="http://schemas.openxmlformats.org/drawingml/2006/main" w="9525">
            <a:solidFill>
              <a:srgbClr val="4285F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A80DF6-9FB3-4B84-8102-B79E0B34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63855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285F4"/>
                </a:solidFill>
              </a:defRPr>
            </a:pPr>
            <a:r>
              <a:rPr sz="1425" b="1">
                <a:solidFill>
                  <a:srgbClr val="4285F4"/>
                </a:solidFill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B63AC5-00BC-4264-8C9E-F6826D79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057650"/>
            <a:ext cx="48863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124"/>
                </a:solidFill>
              </a:defRPr>
            </a:pPr>
            <a:r>
              <a:rPr sz="1425" b="0">
                <a:solidFill>
                  <a:srgbClr val="202124"/>
                </a:solidFill>
              </a:rPr>
              <a:t>| 指标 | 2021 年 | 2022 年 | 2024 年 | 2025 年 | 数据来源 |</a:t>
            </a:r>
          </a:p>
        </p:txBody>
      </p:sp>
    </p:spTree>
    <p:extLst>
      <p:ext uri="{BB962C8B-B14F-4D97-AF65-F5344CB8AC3E}">
        <p14:creationId xmlns:p14="http://schemas.microsoft.com/office/powerpoint/2010/main" val="2955535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021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9E94B5-BF27-4E2B-8DFF-A981BB42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90625"/>
            <a:ext cx="7924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升级端消费画像：高净值客群、高端商场景气与"体验至上"转向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D8F5D6-8387-4306-AAAC-A3BD9F29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71750"/>
            <a:ext cx="438912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升级端消费由高净值人群驱动，呈现从物质拥有向"体验至上"的深刻转向。2025 年中国千万资产高净值家庭超 200 万户，平均年龄 36 岁，78% 来自一线城市 。这一群体的…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36F0B4-600C-4532-BDDE-623E9A48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52750"/>
            <a:ext cx="2095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920888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14588E-2F95-46D3-91E1-9E400DA8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2124"/>
                </a:solidFill>
              </a:defRPr>
            </a:pPr>
            <a:r>
              <a:rPr sz="2400" b="1">
                <a:solidFill>
                  <a:srgbClr val="202124"/>
                </a:solidFill>
              </a:rPr>
              <a:t>降级端消费画像：价格敏感型客群、"消费平替"与折扣渠道崛起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22B49C-BE22-4332-A5F7-DE981663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463296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20212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09948C-1A92-46ED-926D-F318CB8B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66875"/>
            <a:ext cx="390144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降级端消费由价格敏感型客群驱动，"消费平替"趋势显著。三四线城市消费增速超过一二线城市，2020-2023 年二线城市引领市场增长的格局被打破 。Z 世代更倾向为体验、…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75A11B-C832-4007-9C64-397A85F7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9840" y="16478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A8FA01-34DC-4FFE-A48C-6E574001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7490" y="1571625"/>
            <a:ext cx="450723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02124"/>
                </a:solidFill>
              </a:defRPr>
            </a:pPr>
            <a:r>
              <a:rPr sz="1425" b="1">
                <a:solidFill>
                  <a:srgbClr val="202124"/>
                </a:solidFill>
              </a:rPr>
              <a:t>渠道层面：拼多多、蜜雪冰城、折扣店高速增长。 拼多多在阿里和京东两大成熟电商间突围而出，通过补贴模式降低商品单价，以明确的低价定位占据消费者心智 。蜜…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F0EB41-DC59-4C23-9FFF-5ACC23EF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9840" y="25050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C35630-AC5A-4FA2-945A-70152A01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7490" y="2428875"/>
            <a:ext cx="450723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124"/>
                </a:solidFill>
              </a:defRPr>
            </a:pPr>
            <a:r>
              <a:rPr sz="1425" b="0">
                <a:solidFill>
                  <a:srgbClr val="202124"/>
                </a:solidFill>
              </a:rPr>
              <a:t>品类层面：白牌和自有品牌崛起抢占高端产品份额。 2024 年高端面巾纸、瓶装水、个人清洁用品、彩妆、洗发水、护肤品、酸奶和护发素的销售额均出现下滑，白…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586779-A03B-4DEF-99FF-A6011BE7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9840" y="33623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833AEF-0D1E-4FC8-AF4A-06BECC69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7490" y="3286125"/>
            <a:ext cx="450723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124"/>
                </a:solidFill>
              </a:defRPr>
            </a:pPr>
            <a:r>
              <a:rPr sz="1425" b="0">
                <a:solidFill>
                  <a:srgbClr val="202124"/>
                </a:solidFill>
              </a:rPr>
              <a:t>降级端对 K 型格局的结构性意义在于：它并非简单的消费降级，而是消费者在收入不确定性增加背景下，对高实用价值品类的理性选择——接受情绪价值有限，但要求…</a:t>
            </a:r>
          </a:p>
        </p:txBody>
      </p:sp>
    </p:spTree>
    <p:extLst>
      <p:ext uri="{BB962C8B-B14F-4D97-AF65-F5344CB8AC3E}">
        <p14:creationId xmlns:p14="http://schemas.microsoft.com/office/powerpoint/2010/main" val="15067050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8B7679-4FF8-47A0-874F-60840595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2124"/>
                </a:solidFill>
              </a:defRPr>
            </a:pPr>
            <a:r>
              <a:rPr sz="2400" b="1">
                <a:solidFill>
                  <a:srgbClr val="202124"/>
                </a:solidFill>
              </a:rPr>
              <a:t>中间地带的结构性萎缩：传统商超与品牌失势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4FD298-3271-4FED-A1B4-B742D966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1009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A85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13519E-A4A7-4F00-A019-39E6F06E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666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3B7614-7500-46E3-BA27-4B67D39E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28925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FE82F-6900-4FF5-94E2-A298012B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67125"/>
            <a:ext cx="152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02124"/>
                </a:solidFill>
              </a:defRPr>
            </a:pPr>
            <a:r>
              <a:rPr sz="1200" b="1">
                <a:solidFill>
                  <a:srgbClr val="202124"/>
                </a:solidFill>
              </a:rPr>
              <a:t>中间地带塌陷是 K 型分化最核心的结构特征。2024 年有超过半数品类的前五品牌丢失市场份额，…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2F7008-EC64-4079-96EC-F6E00D87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762250"/>
            <a:ext cx="666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34A85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605013-196B-4D4D-B445-D95E101C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828925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4A626C-8CDF-4B49-979A-EE910548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67125"/>
            <a:ext cx="152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传统消费主力品类正经历结构性调整。 白酒、品牌服饰、生猪养殖等传统消费正经历去库存周期，预计 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1DE976-9B27-4DB6-B0E3-0BB59032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762250"/>
            <a:ext cx="666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424C41-893E-41DF-90B3-3DB71351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828925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875E45-1394-4F16-BA83-5CCFD100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67125"/>
            <a:ext cx="152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02124"/>
                </a:solidFill>
              </a:defRPr>
            </a:pPr>
            <a:r>
              <a:rPr sz="1200" b="0">
                <a:solidFill>
                  <a:srgbClr val="202124"/>
                </a:solidFill>
              </a:rPr>
              <a:t>恩格尔系数与消费倾向数据印证中间群体消费收缩。 2025 年全国居民恩格尔系数为 29.3%，…</a:t>
            </a:r>
          </a:p>
        </p:txBody>
      </p:sp>
    </p:spTree>
    <p:extLst>
      <p:ext uri="{BB962C8B-B14F-4D97-AF65-F5344CB8AC3E}">
        <p14:creationId xmlns:p14="http://schemas.microsoft.com/office/powerpoint/2010/main" val="13982446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2021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6B9306-5A43-48C1-91D5-3F3215AE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后续关注事项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4CCF97-3289-4370-B5FB-11826C7B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4285F4"/>
                </a:solidFill>
              </a:defRPr>
            </a:pPr>
            <a:r>
              <a:rPr sz="4350" b="1">
                <a:solidFill>
                  <a:srgbClr val="4285F4"/>
                </a:solidFill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D0D4CD-D161-466A-8066-11DAEC9B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6700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FEAB2E-8649-46C6-B9E9-3D140EA4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66687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#### 2.1.1 K 型分化的宏观量化证据：收入差距、消费分层与品类分化</a:t>
            </a:r>
          </a:p>
        </p:txBody>
      </p:sp>
    </p:spTree>
    <p:extLst>
      <p:ext uri="{BB962C8B-B14F-4D97-AF65-F5344CB8AC3E}">
        <p14:creationId xmlns:p14="http://schemas.microsoft.com/office/powerpoint/2010/main" val="4065572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021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F5F939-E4AF-4DF3-AFFE-3297D8B2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1619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AEF3FB-33D1-4985-AE91-4068D1B2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结论与下一步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61A085-3A59-4FEF-B71C-5BC7BF14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285F4"/>
                </a:solidFill>
              </a:defRPr>
            </a:pPr>
            <a:r>
              <a:rPr sz="1725" b="1">
                <a:solidFill>
                  <a:srgbClr val="4285F4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2FA327-7D2A-4D7F-B508-42E06507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3206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降级端消费由价格敏感型客群驱动，"消费平替"趋势显著。三四线城市消费增速超过一二线城市，2020-2023 年二线城市引领…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51D429-15F5-4674-88ED-46D7A867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6700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285F4"/>
                </a:solidFill>
              </a:defRPr>
            </a:pPr>
            <a:r>
              <a:rPr sz="1725" b="1">
                <a:solidFill>
                  <a:srgbClr val="4285F4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5778BA-6385-41CB-A5A6-12BA79E7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38500"/>
            <a:ext cx="3206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中间地带塌陷是 K 型分化最核心的结构特征。2024 年有超过半数品类的前五品牌丢失市场份额，传统商场客流诉求降低 。消费…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8CCE7E-3010-48DF-8F60-6B03BB0B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6700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285F4"/>
                </a:solidFill>
              </a:defRPr>
            </a:pPr>
            <a:r>
              <a:rPr sz="1725" b="1">
                <a:solidFill>
                  <a:srgbClr val="4285F4"/>
                </a:solidFill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925D46-5569-413E-8045-7E409A91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38500"/>
            <a:ext cx="3206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#### 2.1.1 K 型分化的宏观量化证据：收入差距、消费分层与品类分化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411957-208B-432B-B93F-717578B0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388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285F4"/>
                </a:solidFill>
              </a:defRPr>
            </a:pPr>
            <a:r>
              <a:rPr sz="1050" b="1">
                <a:solidFill>
                  <a:srgbClr val="4285F4"/>
                </a:solidFill>
              </a:rPr>
              <a:t>Google Cloud</a:t>
            </a:r>
          </a:p>
        </p:txBody>
      </p:sp>
    </p:spTree>
    <p:extLst>
      <p:ext uri="{BB962C8B-B14F-4D97-AF65-F5344CB8AC3E}">
        <p14:creationId xmlns:p14="http://schemas.microsoft.com/office/powerpoint/2010/main" val="2419834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2026-09-14T04:19:32.2820000Z</dcterms:created>
  <dcterms:modified xsi:type="dcterms:W3CDTF">2026-09-14T04:19:32.2820000Z</dcterms:modified>
</coreProperties>
</file>